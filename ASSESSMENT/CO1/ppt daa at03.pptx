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notesSlides/notesSlide5.xml" ContentType="application/vnd.openxmlformats-officedocument.presentationml.notesSlide+xml"/>
  <Override PartName="/ppt/charts/chart4.xml" ContentType="application/vnd.openxmlformats-officedocument.drawingml.chart+xml"/>
  <Override PartName="/ppt/notesSlides/notesSlide6.xml" ContentType="application/vnd.openxmlformats-officedocument.presentationml.notesSlide+xml"/>
  <Override PartName="/ppt/charts/chart5.xml" ContentType="application/vnd.openxmlformats-officedocument.drawingml.chart+xml"/>
  <Override PartName="/ppt/notesSlides/notesSlide7.xml" ContentType="application/vnd.openxmlformats-officedocument.presentationml.notesSlide+xml"/>
  <Override PartName="/ppt/charts/chart6.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296" y="-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IN"/>
  <c:roundedCorners val="1"/>
  <c:style val="2"/>
  <c:chart>
    <c:autoTitleDeleted val="1"/>
    <c:plotArea>
      <c:layout/>
      <c:lineChart>
        <c:grouping val="standard"/>
        <c:varyColors val="0"/>
        <c:ser>
          <c:idx val="0"/>
          <c:order val="0"/>
          <c:tx>
            <c:strRef>
              <c:f>Sheet1!$B$1</c:f>
              <c:strCache>
                <c:ptCount val="1"/>
                <c:pt idx="0">
                  <c:v>log n</c:v>
                </c:pt>
              </c:strCache>
            </c:strRef>
          </c:tx>
          <c:spPr>
            <a:ln w="31750" cap="flat">
              <a:solidFill>
                <a:srgbClr val="028090"/>
              </a:solidFill>
              <a:prstDash val="solid"/>
              <a:round/>
            </a:ln>
            <a:effectLst/>
          </c:spPr>
          <c:marker>
            <c:symbol val="circle"/>
            <c:size val="6"/>
            <c:spPr>
              <a:solidFill>
                <a:srgbClr val="028090"/>
              </a:solidFill>
              <a:ln w="9525" cap="flat">
                <a:solidFill>
                  <a:srgbClr val="028090"/>
                </a:solidFill>
                <a:prstDash val="solid"/>
                <a:round/>
              </a:ln>
              <a:effectLst/>
            </c:spPr>
          </c:marker>
          <c:cat>
            <c:strRef>
              <c:f>Sheet1!$A$2:$A$101</c:f>
              <c:strCache>
                <c:ptCount val="1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strCache>
            </c:strRef>
          </c:cat>
          <c:val>
            <c:numRef>
              <c:f>Sheet1!$B$2:$B$101</c:f>
              <c:numCache>
                <c:formatCode>General</c:formatCode>
                <c:ptCount val="100"/>
                <c:pt idx="0">
                  <c:v>0</c:v>
                </c:pt>
                <c:pt idx="1">
                  <c:v>1</c:v>
                </c:pt>
                <c:pt idx="2">
                  <c:v>1.5849625007211561</c:v>
                </c:pt>
                <c:pt idx="3">
                  <c:v>2</c:v>
                </c:pt>
                <c:pt idx="4">
                  <c:v>2.3219280948873622</c:v>
                </c:pt>
                <c:pt idx="5">
                  <c:v>2.5849625007211561</c:v>
                </c:pt>
                <c:pt idx="6">
                  <c:v>2.8073549220576042</c:v>
                </c:pt>
                <c:pt idx="7">
                  <c:v>3</c:v>
                </c:pt>
                <c:pt idx="8">
                  <c:v>3.1699250014423122</c:v>
                </c:pt>
                <c:pt idx="9">
                  <c:v>3.3219280948873622</c:v>
                </c:pt>
                <c:pt idx="10">
                  <c:v>3.4594316186372973</c:v>
                </c:pt>
                <c:pt idx="11">
                  <c:v>3.5849625007211561</c:v>
                </c:pt>
                <c:pt idx="12">
                  <c:v>3.7004397181410922</c:v>
                </c:pt>
                <c:pt idx="13">
                  <c:v>3.8073549220576042</c:v>
                </c:pt>
                <c:pt idx="14">
                  <c:v>3.9068905956085187</c:v>
                </c:pt>
                <c:pt idx="15">
                  <c:v>4</c:v>
                </c:pt>
                <c:pt idx="16">
                  <c:v>4.0874628412503391</c:v>
                </c:pt>
                <c:pt idx="17">
                  <c:v>4.1699250014423122</c:v>
                </c:pt>
                <c:pt idx="18">
                  <c:v>4.2479275134435852</c:v>
                </c:pt>
                <c:pt idx="19">
                  <c:v>4.3219280948873626</c:v>
                </c:pt>
                <c:pt idx="20">
                  <c:v>4.3923174227787607</c:v>
                </c:pt>
                <c:pt idx="21">
                  <c:v>4.4594316186372973</c:v>
                </c:pt>
                <c:pt idx="22">
                  <c:v>4.5235619560570131</c:v>
                </c:pt>
                <c:pt idx="23">
                  <c:v>4.5849625007211561</c:v>
                </c:pt>
                <c:pt idx="24">
                  <c:v>4.6438561897747244</c:v>
                </c:pt>
                <c:pt idx="25">
                  <c:v>4.7004397181410917</c:v>
                </c:pt>
                <c:pt idx="26">
                  <c:v>4.7548875021634682</c:v>
                </c:pt>
                <c:pt idx="27">
                  <c:v>4.8073549220576037</c:v>
                </c:pt>
                <c:pt idx="28">
                  <c:v>4.8579809951275719</c:v>
                </c:pt>
                <c:pt idx="29">
                  <c:v>4.9068905956085187</c:v>
                </c:pt>
                <c:pt idx="30">
                  <c:v>4.9541963103868749</c:v>
                </c:pt>
                <c:pt idx="31">
                  <c:v>5</c:v>
                </c:pt>
                <c:pt idx="32">
                  <c:v>5.0443941193584534</c:v>
                </c:pt>
                <c:pt idx="33">
                  <c:v>5.0874628412503391</c:v>
                </c:pt>
                <c:pt idx="34">
                  <c:v>5.1292830169449664</c:v>
                </c:pt>
                <c:pt idx="35">
                  <c:v>5.1699250014423122</c:v>
                </c:pt>
                <c:pt idx="36">
                  <c:v>5.2094533656289501</c:v>
                </c:pt>
                <c:pt idx="37">
                  <c:v>5.2479275134435852</c:v>
                </c:pt>
                <c:pt idx="38">
                  <c:v>5.2854022188622487</c:v>
                </c:pt>
                <c:pt idx="39">
                  <c:v>5.3219280948873626</c:v>
                </c:pt>
                <c:pt idx="40">
                  <c:v>5.3575520046180838</c:v>
                </c:pt>
                <c:pt idx="41">
                  <c:v>5.3923174227787607</c:v>
                </c:pt>
                <c:pt idx="42">
                  <c:v>5.4262647547020979</c:v>
                </c:pt>
                <c:pt idx="43">
                  <c:v>5.4594316186372973</c:v>
                </c:pt>
                <c:pt idx="44">
                  <c:v>5.4918530963296748</c:v>
                </c:pt>
                <c:pt idx="45">
                  <c:v>5.5235619560570131</c:v>
                </c:pt>
                <c:pt idx="46">
                  <c:v>5.5545888516776376</c:v>
                </c:pt>
                <c:pt idx="47">
                  <c:v>5.5849625007211561</c:v>
                </c:pt>
                <c:pt idx="48">
                  <c:v>5.6147098441152083</c:v>
                </c:pt>
                <c:pt idx="49">
                  <c:v>5.6438561897747244</c:v>
                </c:pt>
                <c:pt idx="50">
                  <c:v>5.6724253419714952</c:v>
                </c:pt>
                <c:pt idx="51">
                  <c:v>5.7004397181410917</c:v>
                </c:pt>
                <c:pt idx="52">
                  <c:v>5.7279204545631988</c:v>
                </c:pt>
                <c:pt idx="53">
                  <c:v>5.7548875021634682</c:v>
                </c:pt>
                <c:pt idx="54">
                  <c:v>5.7813597135246599</c:v>
                </c:pt>
                <c:pt idx="55">
                  <c:v>5.8073549220576037</c:v>
                </c:pt>
                <c:pt idx="56">
                  <c:v>5.8328900141647413</c:v>
                </c:pt>
                <c:pt idx="57">
                  <c:v>5.8579809951275719</c:v>
                </c:pt>
                <c:pt idx="58">
                  <c:v>5.8826430493618416</c:v>
                </c:pt>
                <c:pt idx="59">
                  <c:v>5.9068905956085187</c:v>
                </c:pt>
                <c:pt idx="60">
                  <c:v>5.9307373375628867</c:v>
                </c:pt>
                <c:pt idx="61">
                  <c:v>5.9541963103868749</c:v>
                </c:pt>
                <c:pt idx="62">
                  <c:v>5.9772799234999168</c:v>
                </c:pt>
                <c:pt idx="63">
                  <c:v>6</c:v>
                </c:pt>
                <c:pt idx="64">
                  <c:v>6.0223678130284544</c:v>
                </c:pt>
                <c:pt idx="65">
                  <c:v>6.0443941193584534</c:v>
                </c:pt>
                <c:pt idx="66">
                  <c:v>6.0660891904577721</c:v>
                </c:pt>
                <c:pt idx="67">
                  <c:v>6.0874628412503391</c:v>
                </c:pt>
                <c:pt idx="68">
                  <c:v>6.1085244567781691</c:v>
                </c:pt>
                <c:pt idx="69">
                  <c:v>6.1292830169449664</c:v>
                </c:pt>
                <c:pt idx="70">
                  <c:v>6.1497471195046822</c:v>
                </c:pt>
                <c:pt idx="71">
                  <c:v>6.1699250014423122</c:v>
                </c:pt>
                <c:pt idx="72">
                  <c:v>6.1898245588800176</c:v>
                </c:pt>
                <c:pt idx="73">
                  <c:v>6.2094533656289501</c:v>
                </c:pt>
                <c:pt idx="74">
                  <c:v>6.2288186904958804</c:v>
                </c:pt>
                <c:pt idx="75">
                  <c:v>6.2479275134435852</c:v>
                </c:pt>
                <c:pt idx="76">
                  <c:v>6.266786540694901</c:v>
                </c:pt>
                <c:pt idx="77">
                  <c:v>6.2854022188622487</c:v>
                </c:pt>
                <c:pt idx="78">
                  <c:v>6.3037807481771031</c:v>
                </c:pt>
                <c:pt idx="79">
                  <c:v>6.3219280948873626</c:v>
                </c:pt>
                <c:pt idx="80">
                  <c:v>6.3398500028846243</c:v>
                </c:pt>
                <c:pt idx="81">
                  <c:v>6.3575520046180838</c:v>
                </c:pt>
                <c:pt idx="82">
                  <c:v>6.3750394313469245</c:v>
                </c:pt>
                <c:pt idx="83">
                  <c:v>6.3923174227787607</c:v>
                </c:pt>
                <c:pt idx="84">
                  <c:v>6.4093909361377017</c:v>
                </c:pt>
                <c:pt idx="85">
                  <c:v>6.4262647547020979</c:v>
                </c:pt>
                <c:pt idx="86">
                  <c:v>6.4429434958487279</c:v>
                </c:pt>
                <c:pt idx="87">
                  <c:v>6.4594316186372973</c:v>
                </c:pt>
                <c:pt idx="88">
                  <c:v>6.4757334309663976</c:v>
                </c:pt>
                <c:pt idx="89">
                  <c:v>6.4918530963296748</c:v>
                </c:pt>
                <c:pt idx="90">
                  <c:v>6.5077946401986964</c:v>
                </c:pt>
                <c:pt idx="91">
                  <c:v>6.5235619560570131</c:v>
                </c:pt>
                <c:pt idx="92">
                  <c:v>6.539158811108031</c:v>
                </c:pt>
                <c:pt idx="93">
                  <c:v>6.5545888516776376</c:v>
                </c:pt>
                <c:pt idx="94">
                  <c:v>6.5698556083309478</c:v>
                </c:pt>
                <c:pt idx="95">
                  <c:v>6.5849625007211561</c:v>
                </c:pt>
                <c:pt idx="96">
                  <c:v>6.5999128421871278</c:v>
                </c:pt>
                <c:pt idx="97">
                  <c:v>6.6147098441152083</c:v>
                </c:pt>
                <c:pt idx="98">
                  <c:v>6.6293566200796095</c:v>
                </c:pt>
                <c:pt idx="99">
                  <c:v>6.6438561897747244</c:v>
                </c:pt>
              </c:numCache>
            </c:numRef>
          </c:val>
          <c:smooth val="0"/>
        </c:ser>
        <c:dLbls>
          <c:showLegendKey val="0"/>
          <c:showVal val="0"/>
          <c:showCatName val="0"/>
          <c:showSerName val="0"/>
          <c:showPercent val="0"/>
          <c:showBubbleSize val="0"/>
        </c:dLbls>
        <c:marker val="1"/>
        <c:smooth val="0"/>
        <c:axId val="165524608"/>
        <c:axId val="146810368"/>
      </c:lineChart>
      <c:catAx>
        <c:axId val="165524608"/>
        <c:scaling>
          <c:orientation val="minMax"/>
        </c:scaling>
        <c:delete val="0"/>
        <c:axPos val="b"/>
        <c:title>
          <c:tx>
            <c:rich>
              <a:bodyPr/>
              <a:lstStyle/>
              <a:p>
                <a:pPr>
                  <a:defRPr sz="1000" b="0" i="0" u="none" strike="noStrike">
                    <a:solidFill>
                      <a:srgbClr val="5B6178"/>
                    </a:solidFill>
                    <a:latin typeface="Arial"/>
                  </a:defRPr>
                </a:pPr>
                <a:r>
                  <a:rPr lang="en-IN" sz="1000" b="0" i="0" u="none" strike="noStrike">
                    <a:solidFill>
                      <a:srgbClr val="5B6178"/>
                    </a:solidFill>
                    <a:latin typeface="Arial"/>
                  </a:rPr>
                  <a:t>Input size (n)</a:t>
                </a:r>
              </a:p>
            </c:rich>
          </c:tx>
          <c:layout/>
          <c:overlay val="0"/>
        </c:title>
        <c:numFmt formatCode="General" sourceLinked="1"/>
        <c:majorTickMark val="out"/>
        <c:minorTickMark val="none"/>
        <c:tickLblPos val="low"/>
        <c:spPr>
          <a:ln w="12700" cap="flat">
            <a:solidFill>
              <a:srgbClr val="D6DAE6"/>
            </a:solidFill>
            <a:prstDash val="solid"/>
            <a:round/>
          </a:ln>
        </c:spPr>
        <c:txPr>
          <a:bodyPr/>
          <a:lstStyle/>
          <a:p>
            <a:pPr>
              <a:defRPr sz="900" b="0" i="0" u="none" strike="noStrike">
                <a:solidFill>
                  <a:srgbClr val="5B6178"/>
                </a:solidFill>
                <a:latin typeface="Arial"/>
              </a:defRPr>
            </a:pPr>
            <a:endParaRPr lang="en-US"/>
          </a:p>
        </c:txPr>
        <c:crossAx val="146810368"/>
        <c:crosses val="autoZero"/>
        <c:auto val="1"/>
        <c:lblAlgn val="ctr"/>
        <c:lblOffset val="100"/>
        <c:noMultiLvlLbl val="1"/>
      </c:catAx>
      <c:valAx>
        <c:axId val="146810368"/>
        <c:scaling>
          <c:orientation val="minMax"/>
        </c:scaling>
        <c:delete val="0"/>
        <c:axPos val="l"/>
        <c:majorGridlines>
          <c:spPr>
            <a:ln w="9525" cap="flat">
              <a:solidFill>
                <a:srgbClr val="E3E6F0"/>
              </a:solidFill>
              <a:prstDash val="solid"/>
              <a:round/>
            </a:ln>
          </c:spPr>
        </c:majorGridlines>
        <c:title>
          <c:tx>
            <c:rich>
              <a:bodyPr/>
              <a:lstStyle/>
              <a:p>
                <a:pPr>
                  <a:defRPr sz="1000" b="0" i="0" u="none" strike="noStrike">
                    <a:solidFill>
                      <a:srgbClr val="5B6178"/>
                    </a:solidFill>
                    <a:latin typeface="Arial"/>
                  </a:defRPr>
                </a:pPr>
                <a:r>
                  <a:rPr lang="en-IN" sz="1000" b="0" i="0" u="none" strike="noStrike">
                    <a:solidFill>
                      <a:srgbClr val="5B6178"/>
                    </a:solidFill>
                    <a:latin typeface="Arial"/>
                  </a:rPr>
                  <a:t>Operations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178"/>
                </a:solidFill>
                <a:latin typeface="Arial"/>
              </a:defRPr>
            </a:pPr>
            <a:endParaRPr lang="en-US"/>
          </a:p>
        </c:txPr>
        <c:crossAx val="165524608"/>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IN"/>
  <c:roundedCorners val="1"/>
  <c:style val="2"/>
  <c:chart>
    <c:autoTitleDeleted val="1"/>
    <c:plotArea>
      <c:layout/>
      <c:lineChart>
        <c:grouping val="standard"/>
        <c:varyColors val="0"/>
        <c:ser>
          <c:idx val="0"/>
          <c:order val="0"/>
          <c:tx>
            <c:strRef>
              <c:f>Sheet1!$B$1</c:f>
              <c:strCache>
                <c:ptCount val="1"/>
                <c:pt idx="0">
                  <c:v>n</c:v>
                </c:pt>
              </c:strCache>
            </c:strRef>
          </c:tx>
          <c:spPr>
            <a:ln w="31750" cap="flat">
              <a:solidFill>
                <a:srgbClr val="00A896"/>
              </a:solidFill>
              <a:prstDash val="solid"/>
              <a:round/>
            </a:ln>
            <a:effectLst/>
          </c:spPr>
          <c:marker>
            <c:symbol val="circle"/>
            <c:size val="6"/>
            <c:spPr>
              <a:solidFill>
                <a:srgbClr val="00A896"/>
              </a:solidFill>
              <a:ln w="9525" cap="flat">
                <a:solidFill>
                  <a:srgbClr val="00A896"/>
                </a:solidFill>
                <a:prstDash val="solid"/>
                <a:round/>
              </a:ln>
              <a:effectLst/>
            </c:spPr>
          </c:marker>
          <c:cat>
            <c:strRef>
              <c:f>Sheet1!$A$2:$A$101</c:f>
              <c:strCache>
                <c:ptCount val="1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strCache>
            </c:strRef>
          </c:cat>
          <c:val>
            <c:numRef>
              <c:f>Sheet1!$B$2:$B$101</c:f>
              <c:numCache>
                <c:formatCode>General</c:formatCode>
                <c:ptCount val="1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numCache>
            </c:numRef>
          </c:val>
          <c:smooth val="0"/>
        </c:ser>
        <c:dLbls>
          <c:showLegendKey val="0"/>
          <c:showVal val="0"/>
          <c:showCatName val="0"/>
          <c:showSerName val="0"/>
          <c:showPercent val="0"/>
          <c:showBubbleSize val="0"/>
        </c:dLbls>
        <c:marker val="1"/>
        <c:smooth val="0"/>
        <c:axId val="148414848"/>
        <c:axId val="148416768"/>
      </c:lineChart>
      <c:catAx>
        <c:axId val="148414848"/>
        <c:scaling>
          <c:orientation val="minMax"/>
        </c:scaling>
        <c:delete val="0"/>
        <c:axPos val="b"/>
        <c:title>
          <c:tx>
            <c:rich>
              <a:bodyPr/>
              <a:lstStyle/>
              <a:p>
                <a:pPr>
                  <a:defRPr sz="1000" b="0" i="0" u="none" strike="noStrike">
                    <a:solidFill>
                      <a:srgbClr val="5B6178"/>
                    </a:solidFill>
                    <a:latin typeface="Arial"/>
                  </a:defRPr>
                </a:pPr>
                <a:r>
                  <a:rPr lang="en-IN" sz="1000" b="0" i="0" u="none" strike="noStrike">
                    <a:solidFill>
                      <a:srgbClr val="5B6178"/>
                    </a:solidFill>
                    <a:latin typeface="Arial"/>
                  </a:rPr>
                  <a:t>Input size (n)</a:t>
                </a:r>
              </a:p>
            </c:rich>
          </c:tx>
          <c:layout/>
          <c:overlay val="0"/>
        </c:title>
        <c:numFmt formatCode="General" sourceLinked="1"/>
        <c:majorTickMark val="out"/>
        <c:minorTickMark val="none"/>
        <c:tickLblPos val="low"/>
        <c:spPr>
          <a:ln w="12700" cap="flat">
            <a:solidFill>
              <a:srgbClr val="D6DAE6"/>
            </a:solidFill>
            <a:prstDash val="solid"/>
            <a:round/>
          </a:ln>
        </c:spPr>
        <c:txPr>
          <a:bodyPr/>
          <a:lstStyle/>
          <a:p>
            <a:pPr>
              <a:defRPr sz="900" b="0" i="0" u="none" strike="noStrike">
                <a:solidFill>
                  <a:srgbClr val="5B6178"/>
                </a:solidFill>
                <a:latin typeface="Arial"/>
              </a:defRPr>
            </a:pPr>
            <a:endParaRPr lang="en-US"/>
          </a:p>
        </c:txPr>
        <c:crossAx val="148416768"/>
        <c:crosses val="autoZero"/>
        <c:auto val="1"/>
        <c:lblAlgn val="ctr"/>
        <c:lblOffset val="100"/>
        <c:noMultiLvlLbl val="1"/>
      </c:catAx>
      <c:valAx>
        <c:axId val="148416768"/>
        <c:scaling>
          <c:orientation val="minMax"/>
        </c:scaling>
        <c:delete val="0"/>
        <c:axPos val="l"/>
        <c:majorGridlines>
          <c:spPr>
            <a:ln w="9525" cap="flat">
              <a:solidFill>
                <a:srgbClr val="E3E6F0"/>
              </a:solidFill>
              <a:prstDash val="solid"/>
              <a:round/>
            </a:ln>
          </c:spPr>
        </c:majorGridlines>
        <c:title>
          <c:tx>
            <c:rich>
              <a:bodyPr/>
              <a:lstStyle/>
              <a:p>
                <a:pPr>
                  <a:defRPr sz="1000" b="0" i="0" u="none" strike="noStrike">
                    <a:solidFill>
                      <a:srgbClr val="5B6178"/>
                    </a:solidFill>
                    <a:latin typeface="Arial"/>
                  </a:defRPr>
                </a:pPr>
                <a:r>
                  <a:rPr lang="en-IN" sz="1000" b="0" i="0" u="none" strike="noStrike">
                    <a:solidFill>
                      <a:srgbClr val="5B6178"/>
                    </a:solidFill>
                    <a:latin typeface="Arial"/>
                  </a:rPr>
                  <a:t>Operations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178"/>
                </a:solidFill>
                <a:latin typeface="Arial"/>
              </a:defRPr>
            </a:pPr>
            <a:endParaRPr lang="en-US"/>
          </a:p>
        </c:txPr>
        <c:crossAx val="148414848"/>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IN"/>
  <c:roundedCorners val="1"/>
  <c:style val="2"/>
  <c:chart>
    <c:autoTitleDeleted val="1"/>
    <c:plotArea>
      <c:layout/>
      <c:lineChart>
        <c:grouping val="standard"/>
        <c:varyColors val="0"/>
        <c:ser>
          <c:idx val="0"/>
          <c:order val="0"/>
          <c:tx>
            <c:strRef>
              <c:f>Sheet1!$B$1</c:f>
              <c:strCache>
                <c:ptCount val="1"/>
                <c:pt idx="0">
                  <c:v>n·log n</c:v>
                </c:pt>
              </c:strCache>
            </c:strRef>
          </c:tx>
          <c:spPr>
            <a:ln w="31750" cap="flat">
              <a:solidFill>
                <a:srgbClr val="F9A825"/>
              </a:solidFill>
              <a:prstDash val="solid"/>
              <a:round/>
            </a:ln>
            <a:effectLst/>
          </c:spPr>
          <c:marker>
            <c:symbol val="circle"/>
            <c:size val="6"/>
            <c:spPr>
              <a:solidFill>
                <a:srgbClr val="F9A825"/>
              </a:solidFill>
              <a:ln w="9525" cap="flat">
                <a:solidFill>
                  <a:srgbClr val="F9A825"/>
                </a:solidFill>
                <a:prstDash val="solid"/>
                <a:round/>
              </a:ln>
              <a:effectLst/>
            </c:spPr>
          </c:marker>
          <c:cat>
            <c:strRef>
              <c:f>Sheet1!$A$2:$A$101</c:f>
              <c:strCache>
                <c:ptCount val="1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strCache>
            </c:strRef>
          </c:cat>
          <c:val>
            <c:numRef>
              <c:f>Sheet1!$B$2:$B$101</c:f>
              <c:numCache>
                <c:formatCode>General</c:formatCode>
                <c:ptCount val="100"/>
                <c:pt idx="0">
                  <c:v>0</c:v>
                </c:pt>
                <c:pt idx="1">
                  <c:v>2</c:v>
                </c:pt>
                <c:pt idx="2">
                  <c:v>4.7548875021634682</c:v>
                </c:pt>
                <c:pt idx="3">
                  <c:v>8</c:v>
                </c:pt>
                <c:pt idx="4">
                  <c:v>11.60964047443681</c:v>
                </c:pt>
                <c:pt idx="5">
                  <c:v>15.509775004326936</c:v>
                </c:pt>
                <c:pt idx="6">
                  <c:v>19.651484454403228</c:v>
                </c:pt>
                <c:pt idx="7">
                  <c:v>24</c:v>
                </c:pt>
                <c:pt idx="8">
                  <c:v>28.529325012980809</c:v>
                </c:pt>
                <c:pt idx="9">
                  <c:v>33.219280948873624</c:v>
                </c:pt>
                <c:pt idx="10">
                  <c:v>38.053747805010268</c:v>
                </c:pt>
                <c:pt idx="11">
                  <c:v>43.019550008653873</c:v>
                </c:pt>
                <c:pt idx="12">
                  <c:v>48.105716335834195</c:v>
                </c:pt>
                <c:pt idx="13">
                  <c:v>53.302968908806456</c:v>
                </c:pt>
                <c:pt idx="14">
                  <c:v>58.603358934127783</c:v>
                </c:pt>
                <c:pt idx="15">
                  <c:v>64</c:v>
                </c:pt>
                <c:pt idx="16">
                  <c:v>69.486868301255768</c:v>
                </c:pt>
                <c:pt idx="17">
                  <c:v>75.058650025961612</c:v>
                </c:pt>
                <c:pt idx="18">
                  <c:v>80.710622755428119</c:v>
                </c:pt>
                <c:pt idx="19">
                  <c:v>86.438561897747249</c:v>
                </c:pt>
                <c:pt idx="20">
                  <c:v>92.23866587835397</c:v>
                </c:pt>
                <c:pt idx="21">
                  <c:v>98.107495610020536</c:v>
                </c:pt>
                <c:pt idx="22">
                  <c:v>104.0419249893113</c:v>
                </c:pt>
                <c:pt idx="23">
                  <c:v>110.03910001730775</c:v>
                </c:pt>
                <c:pt idx="24">
                  <c:v>116.09640474436812</c:v>
                </c:pt>
                <c:pt idx="25">
                  <c:v>122.21143267166839</c:v>
                </c:pt>
                <c:pt idx="26">
                  <c:v>128.38196255841365</c:v>
                </c:pt>
                <c:pt idx="27">
                  <c:v>134.6059378176129</c:v>
                </c:pt>
                <c:pt idx="28">
                  <c:v>140.88144885869957</c:v>
                </c:pt>
                <c:pt idx="29">
                  <c:v>147.20671786825557</c:v>
                </c:pt>
                <c:pt idx="30">
                  <c:v>153.58008562199313</c:v>
                </c:pt>
                <c:pt idx="31">
                  <c:v>160</c:v>
                </c:pt>
                <c:pt idx="32">
                  <c:v>166.46500593882897</c:v>
                </c:pt>
                <c:pt idx="33">
                  <c:v>172.97373660251154</c:v>
                </c:pt>
                <c:pt idx="34">
                  <c:v>179.52490559307381</c:v>
                </c:pt>
                <c:pt idx="35">
                  <c:v>186.11730005192322</c:v>
                </c:pt>
                <c:pt idx="36">
                  <c:v>192.74977452827116</c:v>
                </c:pt>
                <c:pt idx="37">
                  <c:v>199.42124551085624</c:v>
                </c:pt>
                <c:pt idx="38">
                  <c:v>206.13068653562769</c:v>
                </c:pt>
                <c:pt idx="39">
                  <c:v>212.8771237954945</c:v>
                </c:pt>
                <c:pt idx="40">
                  <c:v>219.65963218934144</c:v>
                </c:pt>
                <c:pt idx="41">
                  <c:v>226.47733175670794</c:v>
                </c:pt>
                <c:pt idx="42">
                  <c:v>233.3293844521902</c:v>
                </c:pt>
                <c:pt idx="43">
                  <c:v>240.21499122004107</c:v>
                </c:pt>
                <c:pt idx="44">
                  <c:v>247.13338933483536</c:v>
                </c:pt>
                <c:pt idx="45">
                  <c:v>254.0838499786226</c:v>
                </c:pt>
                <c:pt idx="46">
                  <c:v>261.06567602884894</c:v>
                </c:pt>
                <c:pt idx="47">
                  <c:v>268.07820003461552</c:v>
                </c:pt>
                <c:pt idx="48">
                  <c:v>275.12078236164518</c:v>
                </c:pt>
                <c:pt idx="49">
                  <c:v>282.1928094887362</c:v>
                </c:pt>
                <c:pt idx="50">
                  <c:v>289.29369244054624</c:v>
                </c:pt>
                <c:pt idx="51">
                  <c:v>296.42286534333675</c:v>
                </c:pt>
                <c:pt idx="52">
                  <c:v>303.57978409184955</c:v>
                </c:pt>
                <c:pt idx="53">
                  <c:v>310.76392511682729</c:v>
                </c:pt>
                <c:pt idx="54">
                  <c:v>317.97478424385628</c:v>
                </c:pt>
                <c:pt idx="55">
                  <c:v>325.21187563522579</c:v>
                </c:pt>
                <c:pt idx="56">
                  <c:v>332.47473080739024</c:v>
                </c:pt>
                <c:pt idx="57">
                  <c:v>339.76289771739914</c:v>
                </c:pt>
                <c:pt idx="58">
                  <c:v>347.07593991234864</c:v>
                </c:pt>
                <c:pt idx="59">
                  <c:v>354.41343573651113</c:v>
                </c:pt>
                <c:pt idx="60">
                  <c:v>361.7749775913361</c:v>
                </c:pt>
                <c:pt idx="61">
                  <c:v>369.16017124398627</c:v>
                </c:pt>
                <c:pt idx="62">
                  <c:v>376.56863518049477</c:v>
                </c:pt>
                <c:pt idx="63">
                  <c:v>384</c:v>
                </c:pt>
                <c:pt idx="64">
                  <c:v>391.45390784684952</c:v>
                </c:pt>
                <c:pt idx="65">
                  <c:v>398.93001187765793</c:v>
                </c:pt>
                <c:pt idx="66">
                  <c:v>406.42797576067073</c:v>
                </c:pt>
                <c:pt idx="67">
                  <c:v>413.94747320502307</c:v>
                </c:pt>
                <c:pt idx="68">
                  <c:v>421.48818751769369</c:v>
                </c:pt>
                <c:pt idx="69">
                  <c:v>429.04981118614762</c:v>
                </c:pt>
                <c:pt idx="70">
                  <c:v>436.63204548483242</c:v>
                </c:pt>
                <c:pt idx="71">
                  <c:v>444.23460010384645</c:v>
                </c:pt>
                <c:pt idx="72">
                  <c:v>451.85719279824127</c:v>
                </c:pt>
                <c:pt idx="73">
                  <c:v>459.49954905654232</c:v>
                </c:pt>
                <c:pt idx="74">
                  <c:v>467.16140178719104</c:v>
                </c:pt>
                <c:pt idx="75">
                  <c:v>474.84249102171248</c:v>
                </c:pt>
                <c:pt idx="76">
                  <c:v>482.54256363350737</c:v>
                </c:pt>
                <c:pt idx="77">
                  <c:v>490.26137307125538</c:v>
                </c:pt>
                <c:pt idx="78">
                  <c:v>497.99867910599113</c:v>
                </c:pt>
                <c:pt idx="79">
                  <c:v>505.754247590989</c:v>
                </c:pt>
                <c:pt idx="80">
                  <c:v>513.52785023365459</c:v>
                </c:pt>
                <c:pt idx="81">
                  <c:v>521.31926437868287</c:v>
                </c:pt>
                <c:pt idx="82">
                  <c:v>529.12827280179476</c:v>
                </c:pt>
                <c:pt idx="83">
                  <c:v>536.95466351341588</c:v>
                </c:pt>
                <c:pt idx="84">
                  <c:v>544.79822957170461</c:v>
                </c:pt>
                <c:pt idx="85">
                  <c:v>552.65876890438039</c:v>
                </c:pt>
                <c:pt idx="86">
                  <c:v>560.53608413883933</c:v>
                </c:pt>
                <c:pt idx="87">
                  <c:v>568.4299824400822</c:v>
                </c:pt>
                <c:pt idx="88">
                  <c:v>576.34027535600944</c:v>
                </c:pt>
                <c:pt idx="89">
                  <c:v>584.26677866967077</c:v>
                </c:pt>
                <c:pt idx="90">
                  <c:v>592.20931225808135</c:v>
                </c:pt>
                <c:pt idx="91">
                  <c:v>600.16769995724519</c:v>
                </c:pt>
                <c:pt idx="92">
                  <c:v>608.14176943304687</c:v>
                </c:pt>
                <c:pt idx="93">
                  <c:v>616.13135205769788</c:v>
                </c:pt>
                <c:pt idx="94">
                  <c:v>624.13628279144007</c:v>
                </c:pt>
                <c:pt idx="95">
                  <c:v>632.15640006923104</c:v>
                </c:pt>
                <c:pt idx="96">
                  <c:v>640.19154569215141</c:v>
                </c:pt>
                <c:pt idx="97">
                  <c:v>648.24156472329037</c:v>
                </c:pt>
                <c:pt idx="98">
                  <c:v>656.30630538788137</c:v>
                </c:pt>
                <c:pt idx="99">
                  <c:v>664.3856189774724</c:v>
                </c:pt>
              </c:numCache>
            </c:numRef>
          </c:val>
          <c:smooth val="0"/>
        </c:ser>
        <c:dLbls>
          <c:showLegendKey val="0"/>
          <c:showVal val="0"/>
          <c:showCatName val="0"/>
          <c:showSerName val="0"/>
          <c:showPercent val="0"/>
          <c:showBubbleSize val="0"/>
        </c:dLbls>
        <c:marker val="1"/>
        <c:smooth val="0"/>
        <c:axId val="159950720"/>
        <c:axId val="159997952"/>
      </c:lineChart>
      <c:catAx>
        <c:axId val="159950720"/>
        <c:scaling>
          <c:orientation val="minMax"/>
        </c:scaling>
        <c:delete val="0"/>
        <c:axPos val="b"/>
        <c:title>
          <c:tx>
            <c:rich>
              <a:bodyPr/>
              <a:lstStyle/>
              <a:p>
                <a:pPr>
                  <a:defRPr sz="1000" b="0" i="0" u="none" strike="noStrike">
                    <a:solidFill>
                      <a:srgbClr val="5B6178"/>
                    </a:solidFill>
                    <a:latin typeface="Arial"/>
                  </a:defRPr>
                </a:pPr>
                <a:r>
                  <a:rPr lang="en-IN" sz="1000" b="0" i="0" u="none" strike="noStrike">
                    <a:solidFill>
                      <a:srgbClr val="5B6178"/>
                    </a:solidFill>
                    <a:latin typeface="Arial"/>
                  </a:rPr>
                  <a:t>Input size (n)</a:t>
                </a:r>
              </a:p>
            </c:rich>
          </c:tx>
          <c:layout/>
          <c:overlay val="0"/>
        </c:title>
        <c:numFmt formatCode="General" sourceLinked="1"/>
        <c:majorTickMark val="out"/>
        <c:minorTickMark val="none"/>
        <c:tickLblPos val="low"/>
        <c:spPr>
          <a:ln w="12700" cap="flat">
            <a:solidFill>
              <a:srgbClr val="D6DAE6"/>
            </a:solidFill>
            <a:prstDash val="solid"/>
            <a:round/>
          </a:ln>
        </c:spPr>
        <c:txPr>
          <a:bodyPr/>
          <a:lstStyle/>
          <a:p>
            <a:pPr>
              <a:defRPr sz="900" b="0" i="0" u="none" strike="noStrike">
                <a:solidFill>
                  <a:srgbClr val="5B6178"/>
                </a:solidFill>
                <a:latin typeface="Arial"/>
              </a:defRPr>
            </a:pPr>
            <a:endParaRPr lang="en-US"/>
          </a:p>
        </c:txPr>
        <c:crossAx val="159997952"/>
        <c:crosses val="autoZero"/>
        <c:auto val="1"/>
        <c:lblAlgn val="ctr"/>
        <c:lblOffset val="100"/>
        <c:noMultiLvlLbl val="1"/>
      </c:catAx>
      <c:valAx>
        <c:axId val="159997952"/>
        <c:scaling>
          <c:orientation val="minMax"/>
        </c:scaling>
        <c:delete val="0"/>
        <c:axPos val="l"/>
        <c:majorGridlines>
          <c:spPr>
            <a:ln w="9525" cap="flat">
              <a:solidFill>
                <a:srgbClr val="E3E6F0"/>
              </a:solidFill>
              <a:prstDash val="solid"/>
              <a:round/>
            </a:ln>
          </c:spPr>
        </c:majorGridlines>
        <c:title>
          <c:tx>
            <c:rich>
              <a:bodyPr/>
              <a:lstStyle/>
              <a:p>
                <a:pPr>
                  <a:defRPr sz="1000" b="0" i="0" u="none" strike="noStrike">
                    <a:solidFill>
                      <a:srgbClr val="5B6178"/>
                    </a:solidFill>
                    <a:latin typeface="Arial"/>
                  </a:defRPr>
                </a:pPr>
                <a:r>
                  <a:rPr lang="en-IN" sz="1000" b="0" i="0" u="none" strike="noStrike">
                    <a:solidFill>
                      <a:srgbClr val="5B6178"/>
                    </a:solidFill>
                    <a:latin typeface="Arial"/>
                  </a:rPr>
                  <a:t>Operations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178"/>
                </a:solidFill>
                <a:latin typeface="Arial"/>
              </a:defRPr>
            </a:pPr>
            <a:endParaRPr lang="en-US"/>
          </a:p>
        </c:txPr>
        <c:crossAx val="159950720"/>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IN"/>
  <c:roundedCorners val="1"/>
  <c:style val="2"/>
  <c:chart>
    <c:autoTitleDeleted val="1"/>
    <c:plotArea>
      <c:layout/>
      <c:lineChart>
        <c:grouping val="standard"/>
        <c:varyColors val="0"/>
        <c:ser>
          <c:idx val="0"/>
          <c:order val="0"/>
          <c:tx>
            <c:strRef>
              <c:f>Sheet1!$B$1</c:f>
              <c:strCache>
                <c:ptCount val="1"/>
                <c:pt idx="0">
                  <c:v>n²</c:v>
                </c:pt>
              </c:strCache>
            </c:strRef>
          </c:tx>
          <c:spPr>
            <a:ln w="31750" cap="flat">
              <a:solidFill>
                <a:srgbClr val="E8590C"/>
              </a:solidFill>
              <a:prstDash val="solid"/>
              <a:round/>
            </a:ln>
            <a:effectLst/>
          </c:spPr>
          <c:marker>
            <c:symbol val="circle"/>
            <c:size val="6"/>
            <c:spPr>
              <a:solidFill>
                <a:srgbClr val="E8590C"/>
              </a:solidFill>
              <a:ln w="9525" cap="flat">
                <a:solidFill>
                  <a:srgbClr val="E8590C"/>
                </a:solidFill>
                <a:prstDash val="solid"/>
                <a:round/>
              </a:ln>
              <a:effectLst/>
            </c:spPr>
          </c:marker>
          <c:cat>
            <c:strRef>
              <c:f>Sheet1!$A$2:$A$101</c:f>
              <c:strCache>
                <c:ptCount val="1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strCache>
            </c:strRef>
          </c:cat>
          <c:val>
            <c:numRef>
              <c:f>Sheet1!$B$2:$B$101</c:f>
              <c:numCache>
                <c:formatCode>General</c:formatCode>
                <c:ptCount val="100"/>
                <c:pt idx="0">
                  <c:v>1</c:v>
                </c:pt>
                <c:pt idx="1">
                  <c:v>4</c:v>
                </c:pt>
                <c:pt idx="2">
                  <c:v>9</c:v>
                </c:pt>
                <c:pt idx="3">
                  <c:v>16</c:v>
                </c:pt>
                <c:pt idx="4">
                  <c:v>25</c:v>
                </c:pt>
                <c:pt idx="5">
                  <c:v>36</c:v>
                </c:pt>
                <c:pt idx="6">
                  <c:v>49</c:v>
                </c:pt>
                <c:pt idx="7">
                  <c:v>64</c:v>
                </c:pt>
                <c:pt idx="8">
                  <c:v>81</c:v>
                </c:pt>
                <c:pt idx="9">
                  <c:v>100</c:v>
                </c:pt>
                <c:pt idx="10">
                  <c:v>121</c:v>
                </c:pt>
                <c:pt idx="11">
                  <c:v>144</c:v>
                </c:pt>
                <c:pt idx="12">
                  <c:v>169</c:v>
                </c:pt>
                <c:pt idx="13">
                  <c:v>196</c:v>
                </c:pt>
                <c:pt idx="14">
                  <c:v>225</c:v>
                </c:pt>
                <c:pt idx="15">
                  <c:v>256</c:v>
                </c:pt>
                <c:pt idx="16">
                  <c:v>289</c:v>
                </c:pt>
                <c:pt idx="17">
                  <c:v>324</c:v>
                </c:pt>
                <c:pt idx="18">
                  <c:v>361</c:v>
                </c:pt>
                <c:pt idx="19">
                  <c:v>400</c:v>
                </c:pt>
                <c:pt idx="20">
                  <c:v>441</c:v>
                </c:pt>
                <c:pt idx="21">
                  <c:v>484</c:v>
                </c:pt>
                <c:pt idx="22">
                  <c:v>529</c:v>
                </c:pt>
                <c:pt idx="23">
                  <c:v>576</c:v>
                </c:pt>
                <c:pt idx="24">
                  <c:v>625</c:v>
                </c:pt>
                <c:pt idx="25">
                  <c:v>676</c:v>
                </c:pt>
                <c:pt idx="26">
                  <c:v>729</c:v>
                </c:pt>
                <c:pt idx="27">
                  <c:v>784</c:v>
                </c:pt>
                <c:pt idx="28">
                  <c:v>841</c:v>
                </c:pt>
                <c:pt idx="29">
                  <c:v>900</c:v>
                </c:pt>
                <c:pt idx="30">
                  <c:v>961</c:v>
                </c:pt>
                <c:pt idx="31">
                  <c:v>1024</c:v>
                </c:pt>
                <c:pt idx="32">
                  <c:v>1089</c:v>
                </c:pt>
                <c:pt idx="33">
                  <c:v>1156</c:v>
                </c:pt>
                <c:pt idx="34">
                  <c:v>1225</c:v>
                </c:pt>
                <c:pt idx="35">
                  <c:v>1296</c:v>
                </c:pt>
                <c:pt idx="36">
                  <c:v>1369</c:v>
                </c:pt>
                <c:pt idx="37">
                  <c:v>1444</c:v>
                </c:pt>
                <c:pt idx="38">
                  <c:v>1521</c:v>
                </c:pt>
                <c:pt idx="39">
                  <c:v>1600</c:v>
                </c:pt>
                <c:pt idx="40">
                  <c:v>1681</c:v>
                </c:pt>
                <c:pt idx="41">
                  <c:v>1764</c:v>
                </c:pt>
                <c:pt idx="42">
                  <c:v>1849</c:v>
                </c:pt>
                <c:pt idx="43">
                  <c:v>1936</c:v>
                </c:pt>
                <c:pt idx="44">
                  <c:v>2025</c:v>
                </c:pt>
                <c:pt idx="45">
                  <c:v>2116</c:v>
                </c:pt>
                <c:pt idx="46">
                  <c:v>2209</c:v>
                </c:pt>
                <c:pt idx="47">
                  <c:v>2304</c:v>
                </c:pt>
                <c:pt idx="48">
                  <c:v>2401</c:v>
                </c:pt>
                <c:pt idx="49">
                  <c:v>2500</c:v>
                </c:pt>
                <c:pt idx="50">
                  <c:v>2601</c:v>
                </c:pt>
                <c:pt idx="51">
                  <c:v>2704</c:v>
                </c:pt>
                <c:pt idx="52">
                  <c:v>2809</c:v>
                </c:pt>
                <c:pt idx="53">
                  <c:v>2916</c:v>
                </c:pt>
                <c:pt idx="54">
                  <c:v>3025</c:v>
                </c:pt>
                <c:pt idx="55">
                  <c:v>3136</c:v>
                </c:pt>
                <c:pt idx="56">
                  <c:v>3249</c:v>
                </c:pt>
                <c:pt idx="57">
                  <c:v>3364</c:v>
                </c:pt>
                <c:pt idx="58">
                  <c:v>3481</c:v>
                </c:pt>
                <c:pt idx="59">
                  <c:v>3600</c:v>
                </c:pt>
                <c:pt idx="60">
                  <c:v>3721</c:v>
                </c:pt>
                <c:pt idx="61">
                  <c:v>3844</c:v>
                </c:pt>
                <c:pt idx="62">
                  <c:v>3969</c:v>
                </c:pt>
                <c:pt idx="63">
                  <c:v>4096</c:v>
                </c:pt>
                <c:pt idx="64">
                  <c:v>4225</c:v>
                </c:pt>
                <c:pt idx="65">
                  <c:v>4356</c:v>
                </c:pt>
                <c:pt idx="66">
                  <c:v>4489</c:v>
                </c:pt>
                <c:pt idx="67">
                  <c:v>4624</c:v>
                </c:pt>
                <c:pt idx="68">
                  <c:v>4761</c:v>
                </c:pt>
                <c:pt idx="69">
                  <c:v>4900</c:v>
                </c:pt>
                <c:pt idx="70">
                  <c:v>5041</c:v>
                </c:pt>
                <c:pt idx="71">
                  <c:v>5184</c:v>
                </c:pt>
                <c:pt idx="72">
                  <c:v>5329</c:v>
                </c:pt>
                <c:pt idx="73">
                  <c:v>5476</c:v>
                </c:pt>
                <c:pt idx="74">
                  <c:v>5625</c:v>
                </c:pt>
                <c:pt idx="75">
                  <c:v>5776</c:v>
                </c:pt>
                <c:pt idx="76">
                  <c:v>5929</c:v>
                </c:pt>
                <c:pt idx="77">
                  <c:v>6084</c:v>
                </c:pt>
                <c:pt idx="78">
                  <c:v>6241</c:v>
                </c:pt>
                <c:pt idx="79">
                  <c:v>6400</c:v>
                </c:pt>
                <c:pt idx="80">
                  <c:v>6561</c:v>
                </c:pt>
                <c:pt idx="81">
                  <c:v>6724</c:v>
                </c:pt>
                <c:pt idx="82">
                  <c:v>6889</c:v>
                </c:pt>
                <c:pt idx="83">
                  <c:v>7056</c:v>
                </c:pt>
                <c:pt idx="84">
                  <c:v>7225</c:v>
                </c:pt>
                <c:pt idx="85">
                  <c:v>7396</c:v>
                </c:pt>
                <c:pt idx="86">
                  <c:v>7569</c:v>
                </c:pt>
                <c:pt idx="87">
                  <c:v>7744</c:v>
                </c:pt>
                <c:pt idx="88">
                  <c:v>7921</c:v>
                </c:pt>
                <c:pt idx="89">
                  <c:v>8100</c:v>
                </c:pt>
                <c:pt idx="90">
                  <c:v>8281</c:v>
                </c:pt>
                <c:pt idx="91">
                  <c:v>8464</c:v>
                </c:pt>
                <c:pt idx="92">
                  <c:v>8649</c:v>
                </c:pt>
                <c:pt idx="93">
                  <c:v>8836</c:v>
                </c:pt>
                <c:pt idx="94">
                  <c:v>9025</c:v>
                </c:pt>
                <c:pt idx="95">
                  <c:v>9216</c:v>
                </c:pt>
                <c:pt idx="96">
                  <c:v>9409</c:v>
                </c:pt>
                <c:pt idx="97">
                  <c:v>9604</c:v>
                </c:pt>
                <c:pt idx="98">
                  <c:v>9801</c:v>
                </c:pt>
                <c:pt idx="99">
                  <c:v>10000</c:v>
                </c:pt>
              </c:numCache>
            </c:numRef>
          </c:val>
          <c:smooth val="0"/>
        </c:ser>
        <c:dLbls>
          <c:showLegendKey val="0"/>
          <c:showVal val="0"/>
          <c:showCatName val="0"/>
          <c:showSerName val="0"/>
          <c:showPercent val="0"/>
          <c:showBubbleSize val="0"/>
        </c:dLbls>
        <c:marker val="1"/>
        <c:smooth val="0"/>
        <c:axId val="160112640"/>
        <c:axId val="160114560"/>
      </c:lineChart>
      <c:catAx>
        <c:axId val="160112640"/>
        <c:scaling>
          <c:orientation val="minMax"/>
        </c:scaling>
        <c:delete val="0"/>
        <c:axPos val="b"/>
        <c:title>
          <c:tx>
            <c:rich>
              <a:bodyPr/>
              <a:lstStyle/>
              <a:p>
                <a:pPr>
                  <a:defRPr sz="1000" b="0" i="0" u="none" strike="noStrike">
                    <a:solidFill>
                      <a:srgbClr val="5B6178"/>
                    </a:solidFill>
                    <a:latin typeface="Arial"/>
                  </a:defRPr>
                </a:pPr>
                <a:r>
                  <a:rPr lang="en-IN" sz="1000" b="0" i="0" u="none" strike="noStrike">
                    <a:solidFill>
                      <a:srgbClr val="5B6178"/>
                    </a:solidFill>
                    <a:latin typeface="Arial"/>
                  </a:rPr>
                  <a:t>Input size (n)</a:t>
                </a:r>
              </a:p>
            </c:rich>
          </c:tx>
          <c:layout/>
          <c:overlay val="0"/>
        </c:title>
        <c:numFmt formatCode="General" sourceLinked="1"/>
        <c:majorTickMark val="out"/>
        <c:minorTickMark val="none"/>
        <c:tickLblPos val="low"/>
        <c:spPr>
          <a:ln w="12700" cap="flat">
            <a:solidFill>
              <a:srgbClr val="D6DAE6"/>
            </a:solidFill>
            <a:prstDash val="solid"/>
            <a:round/>
          </a:ln>
        </c:spPr>
        <c:txPr>
          <a:bodyPr/>
          <a:lstStyle/>
          <a:p>
            <a:pPr>
              <a:defRPr sz="900" b="0" i="0" u="none" strike="noStrike">
                <a:solidFill>
                  <a:srgbClr val="5B6178"/>
                </a:solidFill>
                <a:latin typeface="Arial"/>
              </a:defRPr>
            </a:pPr>
            <a:endParaRPr lang="en-US"/>
          </a:p>
        </c:txPr>
        <c:crossAx val="160114560"/>
        <c:crosses val="autoZero"/>
        <c:auto val="1"/>
        <c:lblAlgn val="ctr"/>
        <c:lblOffset val="100"/>
        <c:noMultiLvlLbl val="1"/>
      </c:catAx>
      <c:valAx>
        <c:axId val="160114560"/>
        <c:scaling>
          <c:orientation val="minMax"/>
        </c:scaling>
        <c:delete val="0"/>
        <c:axPos val="l"/>
        <c:majorGridlines>
          <c:spPr>
            <a:ln w="9525" cap="flat">
              <a:solidFill>
                <a:srgbClr val="E3E6F0"/>
              </a:solidFill>
              <a:prstDash val="solid"/>
              <a:round/>
            </a:ln>
          </c:spPr>
        </c:majorGridlines>
        <c:title>
          <c:tx>
            <c:rich>
              <a:bodyPr/>
              <a:lstStyle/>
              <a:p>
                <a:pPr>
                  <a:defRPr sz="1000" b="0" i="0" u="none" strike="noStrike">
                    <a:solidFill>
                      <a:srgbClr val="5B6178"/>
                    </a:solidFill>
                    <a:latin typeface="Arial"/>
                  </a:defRPr>
                </a:pPr>
                <a:r>
                  <a:rPr lang="en-IN" sz="1000" b="0" i="0" u="none" strike="noStrike">
                    <a:solidFill>
                      <a:srgbClr val="5B6178"/>
                    </a:solidFill>
                    <a:latin typeface="Arial"/>
                  </a:rPr>
                  <a:t>Operations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178"/>
                </a:solidFill>
                <a:latin typeface="Arial"/>
              </a:defRPr>
            </a:pPr>
            <a:endParaRPr lang="en-US"/>
          </a:p>
        </c:txPr>
        <c:crossAx val="160112640"/>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IN"/>
  <c:roundedCorners val="1"/>
  <c:style val="2"/>
  <c:chart>
    <c:autoTitleDeleted val="1"/>
    <c:plotArea>
      <c:layout/>
      <c:lineChart>
        <c:grouping val="standard"/>
        <c:varyColors val="0"/>
        <c:ser>
          <c:idx val="0"/>
          <c:order val="0"/>
          <c:tx>
            <c:strRef>
              <c:f>Sheet1!$B$1</c:f>
              <c:strCache>
                <c:ptCount val="1"/>
                <c:pt idx="0">
                  <c:v>2ⁿ</c:v>
                </c:pt>
              </c:strCache>
            </c:strRef>
          </c:tx>
          <c:spPr>
            <a:ln w="31750" cap="flat">
              <a:solidFill>
                <a:srgbClr val="C62828"/>
              </a:solidFill>
              <a:prstDash val="solid"/>
              <a:round/>
            </a:ln>
            <a:effectLst/>
          </c:spPr>
          <c:marker>
            <c:symbol val="circle"/>
            <c:size val="6"/>
            <c:spPr>
              <a:solidFill>
                <a:srgbClr val="C62828"/>
              </a:solidFill>
              <a:ln w="9525" cap="flat">
                <a:solidFill>
                  <a:srgbClr val="C62828"/>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2</c:v>
                </c:pt>
                <c:pt idx="1">
                  <c:v>4</c:v>
                </c:pt>
                <c:pt idx="2">
                  <c:v>8</c:v>
                </c:pt>
                <c:pt idx="3">
                  <c:v>16</c:v>
                </c:pt>
                <c:pt idx="4">
                  <c:v>32</c:v>
                </c:pt>
                <c:pt idx="5">
                  <c:v>64</c:v>
                </c:pt>
                <c:pt idx="6">
                  <c:v>128</c:v>
                </c:pt>
                <c:pt idx="7">
                  <c:v>256</c:v>
                </c:pt>
                <c:pt idx="8">
                  <c:v>512</c:v>
                </c:pt>
                <c:pt idx="9">
                  <c:v>1024</c:v>
                </c:pt>
                <c:pt idx="10">
                  <c:v>2048</c:v>
                </c:pt>
                <c:pt idx="11">
                  <c:v>4096</c:v>
                </c:pt>
                <c:pt idx="12">
                  <c:v>8192</c:v>
                </c:pt>
                <c:pt idx="13">
                  <c:v>16384</c:v>
                </c:pt>
                <c:pt idx="14">
                  <c:v>32768</c:v>
                </c:pt>
                <c:pt idx="15">
                  <c:v>65536</c:v>
                </c:pt>
                <c:pt idx="16">
                  <c:v>131072</c:v>
                </c:pt>
                <c:pt idx="17">
                  <c:v>262144</c:v>
                </c:pt>
                <c:pt idx="18">
                  <c:v>524288</c:v>
                </c:pt>
                <c:pt idx="19">
                  <c:v>1048576</c:v>
                </c:pt>
              </c:numCache>
            </c:numRef>
          </c:val>
          <c:smooth val="0"/>
        </c:ser>
        <c:dLbls>
          <c:showLegendKey val="0"/>
          <c:showVal val="0"/>
          <c:showCatName val="0"/>
          <c:showSerName val="0"/>
          <c:showPercent val="0"/>
          <c:showBubbleSize val="0"/>
        </c:dLbls>
        <c:marker val="1"/>
        <c:smooth val="0"/>
        <c:axId val="147329792"/>
        <c:axId val="147331328"/>
      </c:lineChart>
      <c:catAx>
        <c:axId val="147329792"/>
        <c:scaling>
          <c:orientation val="minMax"/>
        </c:scaling>
        <c:delete val="0"/>
        <c:axPos val="b"/>
        <c:title>
          <c:tx>
            <c:rich>
              <a:bodyPr/>
              <a:lstStyle/>
              <a:p>
                <a:pPr>
                  <a:defRPr sz="1000" b="0" i="0" u="none" strike="noStrike">
                    <a:solidFill>
                      <a:srgbClr val="5B6178"/>
                    </a:solidFill>
                    <a:latin typeface="Arial"/>
                  </a:defRPr>
                </a:pPr>
                <a:r>
                  <a:rPr lang="en-IN" sz="1000" b="0" i="0" u="none" strike="noStrike">
                    <a:solidFill>
                      <a:srgbClr val="5B6178"/>
                    </a:solidFill>
                    <a:latin typeface="Arial"/>
                  </a:rPr>
                  <a:t>Input size (n)</a:t>
                </a:r>
              </a:p>
            </c:rich>
          </c:tx>
          <c:layout/>
          <c:overlay val="0"/>
        </c:title>
        <c:numFmt formatCode="General" sourceLinked="1"/>
        <c:majorTickMark val="out"/>
        <c:minorTickMark val="none"/>
        <c:tickLblPos val="low"/>
        <c:spPr>
          <a:ln w="12700" cap="flat">
            <a:solidFill>
              <a:srgbClr val="D6DAE6"/>
            </a:solidFill>
            <a:prstDash val="solid"/>
            <a:round/>
          </a:ln>
        </c:spPr>
        <c:txPr>
          <a:bodyPr/>
          <a:lstStyle/>
          <a:p>
            <a:pPr>
              <a:defRPr sz="900" b="0" i="0" u="none" strike="noStrike">
                <a:solidFill>
                  <a:srgbClr val="5B6178"/>
                </a:solidFill>
                <a:latin typeface="Arial"/>
              </a:defRPr>
            </a:pPr>
            <a:endParaRPr lang="en-US"/>
          </a:p>
        </c:txPr>
        <c:crossAx val="147331328"/>
        <c:crosses val="autoZero"/>
        <c:auto val="1"/>
        <c:lblAlgn val="ctr"/>
        <c:lblOffset val="100"/>
        <c:noMultiLvlLbl val="1"/>
      </c:catAx>
      <c:valAx>
        <c:axId val="147331328"/>
        <c:scaling>
          <c:orientation val="minMax"/>
        </c:scaling>
        <c:delete val="0"/>
        <c:axPos val="l"/>
        <c:majorGridlines>
          <c:spPr>
            <a:ln w="9525" cap="flat">
              <a:solidFill>
                <a:srgbClr val="E3E6F0"/>
              </a:solidFill>
              <a:prstDash val="solid"/>
              <a:round/>
            </a:ln>
          </c:spPr>
        </c:majorGridlines>
        <c:title>
          <c:tx>
            <c:rich>
              <a:bodyPr/>
              <a:lstStyle/>
              <a:p>
                <a:pPr>
                  <a:defRPr sz="1000" b="0" i="0" u="none" strike="noStrike">
                    <a:solidFill>
                      <a:srgbClr val="5B6178"/>
                    </a:solidFill>
                    <a:latin typeface="Arial"/>
                  </a:defRPr>
                </a:pPr>
                <a:r>
                  <a:rPr lang="en-IN" sz="1000" b="0" i="0" u="none" strike="noStrike">
                    <a:solidFill>
                      <a:srgbClr val="5B6178"/>
                    </a:solidFill>
                    <a:latin typeface="Arial"/>
                  </a:rPr>
                  <a:t>Operations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178"/>
                </a:solidFill>
                <a:latin typeface="Arial"/>
              </a:defRPr>
            </a:pPr>
            <a:endParaRPr lang="en-US"/>
          </a:p>
        </c:txPr>
        <c:crossAx val="147329792"/>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IN"/>
  <c:roundedCorners val="1"/>
  <c:style val="2"/>
  <c:chart>
    <c:autoTitleDeleted val="1"/>
    <c:plotArea>
      <c:layout/>
      <c:lineChart>
        <c:grouping val="standard"/>
        <c:varyColors val="0"/>
        <c:ser>
          <c:idx val="0"/>
          <c:order val="0"/>
          <c:tx>
            <c:strRef>
              <c:f>Sheet1!$B$1</c:f>
              <c:strCache>
                <c:ptCount val="1"/>
                <c:pt idx="0">
                  <c:v>log n</c:v>
                </c:pt>
              </c:strCache>
            </c:strRef>
          </c:tx>
          <c:spPr>
            <a:ln w="28575" cap="flat">
              <a:solidFill>
                <a:srgbClr val="028090"/>
              </a:solidFill>
              <a:prstDash val="solid"/>
              <a:round/>
            </a:ln>
            <a:effectLst/>
          </c:spPr>
          <c:marker>
            <c:symbol val="circle"/>
            <c:size val="6"/>
            <c:spPr>
              <a:solidFill>
                <a:srgbClr val="028090"/>
              </a:solidFill>
              <a:ln w="9525" cap="flat">
                <a:solidFill>
                  <a:srgbClr val="028090"/>
                </a:solidFill>
                <a:prstDash val="solid"/>
                <a:round/>
              </a:ln>
              <a:effectLst/>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0</c:v>
                </c:pt>
                <c:pt idx="1">
                  <c:v>1</c:v>
                </c:pt>
                <c:pt idx="2">
                  <c:v>1.6</c:v>
                </c:pt>
                <c:pt idx="3">
                  <c:v>2</c:v>
                </c:pt>
                <c:pt idx="4">
                  <c:v>2.2999999999999998</c:v>
                </c:pt>
                <c:pt idx="5">
                  <c:v>2.6</c:v>
                </c:pt>
                <c:pt idx="6">
                  <c:v>2.8</c:v>
                </c:pt>
                <c:pt idx="7">
                  <c:v>3</c:v>
                </c:pt>
                <c:pt idx="8">
                  <c:v>3.2</c:v>
                </c:pt>
                <c:pt idx="9">
                  <c:v>3.3</c:v>
                </c:pt>
              </c:numCache>
            </c:numRef>
          </c:val>
          <c:smooth val="0"/>
        </c:ser>
        <c:ser>
          <c:idx val="1"/>
          <c:order val="1"/>
          <c:tx>
            <c:strRef>
              <c:f>Sheet1!$C$1</c:f>
              <c:strCache>
                <c:ptCount val="1"/>
                <c:pt idx="0">
                  <c:v>n</c:v>
                </c:pt>
              </c:strCache>
            </c:strRef>
          </c:tx>
          <c:spPr>
            <a:ln w="28575" cap="flat">
              <a:solidFill>
                <a:srgbClr val="00A896"/>
              </a:solidFill>
              <a:prstDash val="solid"/>
              <a:round/>
            </a:ln>
            <a:effectLst/>
          </c:spPr>
          <c:marker>
            <c:symbol val="circle"/>
            <c:size val="6"/>
            <c:spPr>
              <a:solidFill>
                <a:srgbClr val="00A896"/>
              </a:solidFill>
              <a:ln w="9525" cap="flat">
                <a:solidFill>
                  <a:srgbClr val="00A896"/>
                </a:solidFill>
                <a:prstDash val="solid"/>
                <a:round/>
              </a:ln>
              <a:effectLst/>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Sheet1!$C$2:$C$11</c:f>
              <c:numCache>
                <c:formatCode>General</c:formatCode>
                <c:ptCount val="10"/>
                <c:pt idx="0">
                  <c:v>1</c:v>
                </c:pt>
                <c:pt idx="1">
                  <c:v>2</c:v>
                </c:pt>
                <c:pt idx="2">
                  <c:v>3</c:v>
                </c:pt>
                <c:pt idx="3">
                  <c:v>4</c:v>
                </c:pt>
                <c:pt idx="4">
                  <c:v>5</c:v>
                </c:pt>
                <c:pt idx="5">
                  <c:v>6</c:v>
                </c:pt>
                <c:pt idx="6">
                  <c:v>7</c:v>
                </c:pt>
                <c:pt idx="7">
                  <c:v>8</c:v>
                </c:pt>
                <c:pt idx="8">
                  <c:v>9</c:v>
                </c:pt>
                <c:pt idx="9">
                  <c:v>10</c:v>
                </c:pt>
              </c:numCache>
            </c:numRef>
          </c:val>
          <c:smooth val="0"/>
        </c:ser>
        <c:ser>
          <c:idx val="2"/>
          <c:order val="2"/>
          <c:tx>
            <c:strRef>
              <c:f>Sheet1!$D$1</c:f>
              <c:strCache>
                <c:ptCount val="1"/>
                <c:pt idx="0">
                  <c:v>n log n</c:v>
                </c:pt>
              </c:strCache>
            </c:strRef>
          </c:tx>
          <c:spPr>
            <a:ln w="28575" cap="flat">
              <a:solidFill>
                <a:srgbClr val="F9A825"/>
              </a:solidFill>
              <a:prstDash val="solid"/>
              <a:round/>
            </a:ln>
            <a:effectLst/>
          </c:spPr>
          <c:marker>
            <c:symbol val="circle"/>
            <c:size val="6"/>
            <c:spPr>
              <a:solidFill>
                <a:srgbClr val="F9A825"/>
              </a:solidFill>
              <a:ln w="9525" cap="flat">
                <a:solidFill>
                  <a:srgbClr val="F9A825"/>
                </a:solidFill>
                <a:prstDash val="solid"/>
                <a:round/>
              </a:ln>
              <a:effectLst/>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Sheet1!$D$2:$D$11</c:f>
              <c:numCache>
                <c:formatCode>General</c:formatCode>
                <c:ptCount val="10"/>
                <c:pt idx="0">
                  <c:v>0</c:v>
                </c:pt>
                <c:pt idx="1">
                  <c:v>2</c:v>
                </c:pt>
                <c:pt idx="2">
                  <c:v>4.8</c:v>
                </c:pt>
                <c:pt idx="3">
                  <c:v>8</c:v>
                </c:pt>
                <c:pt idx="4">
                  <c:v>11.6</c:v>
                </c:pt>
                <c:pt idx="5">
                  <c:v>15.5</c:v>
                </c:pt>
                <c:pt idx="6">
                  <c:v>19.7</c:v>
                </c:pt>
                <c:pt idx="7">
                  <c:v>24</c:v>
                </c:pt>
                <c:pt idx="8">
                  <c:v>28.5</c:v>
                </c:pt>
                <c:pt idx="9">
                  <c:v>33.200000000000003</c:v>
                </c:pt>
              </c:numCache>
            </c:numRef>
          </c:val>
          <c:smooth val="0"/>
        </c:ser>
        <c:ser>
          <c:idx val="3"/>
          <c:order val="3"/>
          <c:tx>
            <c:strRef>
              <c:f>Sheet1!$E$1</c:f>
              <c:strCache>
                <c:ptCount val="1"/>
                <c:pt idx="0">
                  <c:v>n²</c:v>
                </c:pt>
              </c:strCache>
            </c:strRef>
          </c:tx>
          <c:spPr>
            <a:ln w="28575" cap="flat">
              <a:solidFill>
                <a:srgbClr val="E8590C"/>
              </a:solidFill>
              <a:prstDash val="solid"/>
              <a:round/>
            </a:ln>
            <a:effectLst/>
          </c:spPr>
          <c:marker>
            <c:symbol val="circle"/>
            <c:size val="6"/>
            <c:spPr>
              <a:solidFill>
                <a:srgbClr val="E8590C"/>
              </a:solidFill>
              <a:ln w="9525" cap="flat">
                <a:solidFill>
                  <a:srgbClr val="E8590C"/>
                </a:solidFill>
                <a:prstDash val="solid"/>
                <a:round/>
              </a:ln>
              <a:effectLst/>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Sheet1!$E$2:$E$11</c:f>
              <c:numCache>
                <c:formatCode>General</c:formatCode>
                <c:ptCount val="10"/>
                <c:pt idx="0">
                  <c:v>1</c:v>
                </c:pt>
                <c:pt idx="1">
                  <c:v>4</c:v>
                </c:pt>
                <c:pt idx="2">
                  <c:v>9</c:v>
                </c:pt>
                <c:pt idx="3">
                  <c:v>16</c:v>
                </c:pt>
                <c:pt idx="4">
                  <c:v>25</c:v>
                </c:pt>
                <c:pt idx="5">
                  <c:v>36</c:v>
                </c:pt>
                <c:pt idx="6">
                  <c:v>49</c:v>
                </c:pt>
                <c:pt idx="7">
                  <c:v>64</c:v>
                </c:pt>
                <c:pt idx="8">
                  <c:v>81</c:v>
                </c:pt>
                <c:pt idx="9">
                  <c:v>100</c:v>
                </c:pt>
              </c:numCache>
            </c:numRef>
          </c:val>
          <c:smooth val="0"/>
        </c:ser>
        <c:ser>
          <c:idx val="4"/>
          <c:order val="4"/>
          <c:tx>
            <c:strRef>
              <c:f>Sheet1!$F$1</c:f>
              <c:strCache>
                <c:ptCount val="1"/>
                <c:pt idx="0">
                  <c:v>2ⁿ</c:v>
                </c:pt>
              </c:strCache>
            </c:strRef>
          </c:tx>
          <c:spPr>
            <a:ln w="28575" cap="flat">
              <a:solidFill>
                <a:srgbClr val="C62828"/>
              </a:solidFill>
              <a:prstDash val="solid"/>
              <a:round/>
            </a:ln>
            <a:effectLst/>
          </c:spPr>
          <c:marker>
            <c:symbol val="circle"/>
            <c:size val="6"/>
            <c:spPr>
              <a:solidFill>
                <a:srgbClr val="C62828"/>
              </a:solidFill>
              <a:ln w="9525" cap="flat">
                <a:solidFill>
                  <a:srgbClr val="C62828"/>
                </a:solidFill>
                <a:prstDash val="solid"/>
                <a:round/>
              </a:ln>
              <a:effectLst/>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Sheet1!$F$2:$F$11</c:f>
              <c:numCache>
                <c:formatCode>General</c:formatCode>
                <c:ptCount val="10"/>
                <c:pt idx="0">
                  <c:v>2</c:v>
                </c:pt>
                <c:pt idx="1">
                  <c:v>4</c:v>
                </c:pt>
                <c:pt idx="2">
                  <c:v>8</c:v>
                </c:pt>
                <c:pt idx="3">
                  <c:v>16</c:v>
                </c:pt>
                <c:pt idx="4">
                  <c:v>32</c:v>
                </c:pt>
                <c:pt idx="5">
                  <c:v>64</c:v>
                </c:pt>
                <c:pt idx="6">
                  <c:v>128</c:v>
                </c:pt>
                <c:pt idx="7">
                  <c:v>256</c:v>
                </c:pt>
                <c:pt idx="8">
                  <c:v>512</c:v>
                </c:pt>
                <c:pt idx="9">
                  <c:v>1024</c:v>
                </c:pt>
              </c:numCache>
            </c:numRef>
          </c:val>
          <c:smooth val="0"/>
        </c:ser>
        <c:dLbls>
          <c:showLegendKey val="0"/>
          <c:showVal val="0"/>
          <c:showCatName val="0"/>
          <c:showSerName val="0"/>
          <c:showPercent val="0"/>
          <c:showBubbleSize val="0"/>
        </c:dLbls>
        <c:marker val="1"/>
        <c:smooth val="0"/>
        <c:axId val="157907200"/>
        <c:axId val="157925760"/>
      </c:lineChart>
      <c:catAx>
        <c:axId val="157907200"/>
        <c:scaling>
          <c:orientation val="minMax"/>
        </c:scaling>
        <c:delete val="0"/>
        <c:axPos val="b"/>
        <c:title>
          <c:tx>
            <c:rich>
              <a:bodyPr/>
              <a:lstStyle/>
              <a:p>
                <a:pPr>
                  <a:defRPr sz="1000" b="0" i="0" u="none" strike="noStrike">
                    <a:solidFill>
                      <a:srgbClr val="5B6178"/>
                    </a:solidFill>
                    <a:latin typeface="Arial"/>
                  </a:defRPr>
                </a:pPr>
                <a:r>
                  <a:rPr lang="en-IN" sz="1000" b="0" i="0" u="none" strike="noStrike">
                    <a:solidFill>
                      <a:srgbClr val="5B6178"/>
                    </a:solidFill>
                    <a:latin typeface="Arial"/>
                  </a:rPr>
                  <a:t>Input size (n)</a:t>
                </a:r>
              </a:p>
            </c:rich>
          </c:tx>
          <c:layout/>
          <c:overlay val="0"/>
        </c:title>
        <c:numFmt formatCode="General" sourceLinked="1"/>
        <c:majorTickMark val="out"/>
        <c:minorTickMark val="none"/>
        <c:tickLblPos val="low"/>
        <c:spPr>
          <a:ln w="12700" cap="flat">
            <a:solidFill>
              <a:srgbClr val="D6DAE6"/>
            </a:solidFill>
            <a:prstDash val="solid"/>
            <a:round/>
          </a:ln>
        </c:spPr>
        <c:txPr>
          <a:bodyPr/>
          <a:lstStyle/>
          <a:p>
            <a:pPr>
              <a:defRPr sz="900" b="0" i="0" u="none" strike="noStrike">
                <a:solidFill>
                  <a:srgbClr val="5B6178"/>
                </a:solidFill>
                <a:latin typeface="Arial"/>
              </a:defRPr>
            </a:pPr>
            <a:endParaRPr lang="en-US"/>
          </a:p>
        </c:txPr>
        <c:crossAx val="157925760"/>
        <c:crosses val="autoZero"/>
        <c:auto val="1"/>
        <c:lblAlgn val="ctr"/>
        <c:lblOffset val="100"/>
        <c:noMultiLvlLbl val="1"/>
      </c:catAx>
      <c:valAx>
        <c:axId val="157925760"/>
        <c:scaling>
          <c:orientation val="minMax"/>
        </c:scaling>
        <c:delete val="0"/>
        <c:axPos val="l"/>
        <c:majorGridlines>
          <c:spPr>
            <a:ln w="9525" cap="flat">
              <a:solidFill>
                <a:srgbClr val="E3E6F0"/>
              </a:solidFill>
              <a:prstDash val="solid"/>
              <a:round/>
            </a:ln>
          </c:spPr>
        </c:majorGridlines>
        <c:title>
          <c:tx>
            <c:rich>
              <a:bodyPr/>
              <a:lstStyle/>
              <a:p>
                <a:pPr>
                  <a:defRPr sz="1000" b="0" i="0" u="none" strike="noStrike">
                    <a:solidFill>
                      <a:srgbClr val="5B6178"/>
                    </a:solidFill>
                    <a:latin typeface="Arial"/>
                  </a:defRPr>
                </a:pPr>
                <a:r>
                  <a:rPr lang="en-IN" sz="1000" b="0" i="0" u="none" strike="noStrike">
                    <a:solidFill>
                      <a:srgbClr val="5B6178"/>
                    </a:solidFill>
                    <a:latin typeface="Arial"/>
                  </a:rPr>
                  <a:t>Operations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178"/>
                </a:solidFill>
                <a:latin typeface="Arial"/>
              </a:defRPr>
            </a:pPr>
            <a:endParaRPr lang="en-US"/>
          </a:p>
        </c:txPr>
        <c:crossAx val="157907200"/>
        <c:crosses val="autoZero"/>
        <c:crossBetween val="between"/>
      </c:valAx>
      <c:spPr>
        <a:noFill/>
        <a:ln>
          <a:noFill/>
        </a:ln>
        <a:effectLst/>
      </c:spPr>
    </c:plotArea>
    <c:legend>
      <c:legendPos val="b"/>
      <c:layout/>
      <c:overlay val="0"/>
      <c:txPr>
        <a:bodyPr/>
        <a:lstStyle/>
        <a:p>
          <a:pPr>
            <a:defRPr sz="1000">
              <a:solidFill>
                <a:srgbClr val="1B1B2F"/>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29D280AF-C37D-4E0F-ABCD-B2C67B2C1457}" type="datetimeFigureOut">
              <a:rPr lang="en-IN" smtClean="0"/>
              <a:t>19-07-2026</a:t>
            </a:fld>
            <a:endParaRPr lang="en-IN"/>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AEC237A7-FBDA-4765-81EE-7433257DBB26}" type="slidenum">
              <a:rPr lang="en-IN" smtClean="0"/>
              <a:t>‹#›</a:t>
            </a:fld>
            <a:endParaRPr lang="en-IN"/>
          </a:p>
        </p:txBody>
      </p:sp>
    </p:spTree>
    <p:extLst>
      <p:ext uri="{BB962C8B-B14F-4D97-AF65-F5344CB8AC3E}">
        <p14:creationId xmlns:p14="http://schemas.microsoft.com/office/powerpoint/2010/main" val="2006407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frame the purpose: as input size grows, an algorithm's growth function determines whether it remains fast or becomes impractical. Today we examine five canonical growth functions -- logarithmic, linear, linearithmic, quadratic, and exponential -- covering their math, example algorithms, and scaling behavior, culminating in practical guidance for choosing algorithms at scale.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places all five growth functions side by side. The chart (n = 1 to 10) shows how quickly the curves separate even at small input sizes -- notice 2^n already dwarfing the others by n = 10. The table on the right extends this to larger n: by n = 1,000, O(n^2) requires a million operations while O(2^n) is beyond computation entirely, whereas logarithmic and linear costs remain small and manageable.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the five functions by practicality: logarithmic, linear, and linearithmic algorithms remain fast even as data grows into the billions, making them the default choice for production systems. Quadratic algorithms are usable only for smaller datasets and should trigger a search for a better approach as n grows. Exponential algorithms are only appropriate for very small inputs and typically require heuristics, pruning, or approximation to be usable in practice.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growth-rate analysis is not academic -- it directly drives algorithm selection in real systems. Match the algorithm's growth behavior to the expected scale of the problem: favor logarithmic, linear, or linearithmic solutions whenever data volume is large or unbounded, and reserve quadratic or exponential approaches for genuinely small inputs, replacing them with heuristics or better algorithms as scale increases. Thank the audience and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822960" y="1417320"/>
            <a:ext cx="7315200" cy="320040"/>
          </a:xfrm>
          <a:prstGeom prst="rect">
            <a:avLst/>
          </a:prstGeom>
          <a:noFill/>
          <a:ln/>
        </p:spPr>
        <p:txBody>
          <a:bodyPr wrap="square" rtlCol="0" anchor="ctr"/>
          <a:lstStyle/>
          <a:p>
            <a:pPr marL="0" indent="0">
              <a:buNone/>
            </a:pPr>
            <a:r>
              <a:rPr lang="en-US" sz="1300" b="1" kern="0" spc="300" dirty="0">
                <a:solidFill>
                  <a:srgbClr val="CADCFC"/>
                </a:solidFill>
                <a:latin typeface="Calibri" pitchFamily="34" charset="0"/>
                <a:ea typeface="Calibri" pitchFamily="34" charset="-122"/>
                <a:cs typeface="Calibri" pitchFamily="34" charset="-120"/>
              </a:rPr>
              <a:t>ALGORITHM EFFICIENCY</a:t>
            </a:r>
            <a:endParaRPr lang="en-US" sz="1300" dirty="0"/>
          </a:p>
        </p:txBody>
      </p:sp>
      <p:sp>
        <p:nvSpPr>
          <p:cNvPr id="3" name="Text 1"/>
          <p:cNvSpPr/>
          <p:nvPr/>
        </p:nvSpPr>
        <p:spPr>
          <a:xfrm>
            <a:off x="822960" y="1737360"/>
            <a:ext cx="10241280" cy="13716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Comparing the Five Core Growth Functions</a:t>
            </a:r>
            <a:endParaRPr lang="en-US" sz="4000" dirty="0"/>
          </a:p>
        </p:txBody>
      </p:sp>
      <p:sp>
        <p:nvSpPr>
          <p:cNvPr id="4" name="Text 2"/>
          <p:cNvSpPr/>
          <p:nvPr/>
        </p:nvSpPr>
        <p:spPr>
          <a:xfrm>
            <a:off x="822960" y="2880360"/>
            <a:ext cx="10241280" cy="457200"/>
          </a:xfrm>
          <a:prstGeom prst="rect">
            <a:avLst/>
          </a:prstGeom>
          <a:noFill/>
          <a:ln/>
        </p:spPr>
        <p:txBody>
          <a:bodyPr wrap="square"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O(log n)   •   O(n)   •   O(n log n)   •   O(n²)   •   O(2ⁿ)</a:t>
            </a:r>
            <a:endParaRPr lang="en-US" sz="1800" dirty="0"/>
          </a:p>
        </p:txBody>
      </p:sp>
      <p:sp>
        <p:nvSpPr>
          <p:cNvPr id="5" name="Shape 3"/>
          <p:cNvSpPr/>
          <p:nvPr/>
        </p:nvSpPr>
        <p:spPr>
          <a:xfrm>
            <a:off x="822960" y="3520440"/>
            <a:ext cx="2743200" cy="0"/>
          </a:xfrm>
          <a:prstGeom prst="line">
            <a:avLst/>
          </a:prstGeom>
          <a:noFill/>
          <a:ln w="19050">
            <a:solidFill>
              <a:srgbClr val="CADCFC"/>
            </a:solidFill>
            <a:prstDash val="solid"/>
          </a:ln>
        </p:spPr>
      </p:sp>
      <p:sp>
        <p:nvSpPr>
          <p:cNvPr id="6" name="Text 4"/>
          <p:cNvSpPr/>
          <p:nvPr/>
        </p:nvSpPr>
        <p:spPr>
          <a:xfrm>
            <a:off x="822960" y="3794760"/>
            <a:ext cx="731520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Purpose of this analysis</a:t>
            </a:r>
            <a:endParaRPr lang="en-US" sz="1500" dirty="0"/>
          </a:p>
        </p:txBody>
      </p:sp>
      <p:sp>
        <p:nvSpPr>
          <p:cNvPr id="7" name="Text 5"/>
          <p:cNvSpPr/>
          <p:nvPr/>
        </p:nvSpPr>
        <p:spPr>
          <a:xfrm>
            <a:off x="822960" y="4206240"/>
            <a:ext cx="9692640" cy="2011680"/>
          </a:xfrm>
          <a:prstGeom prst="rect">
            <a:avLst/>
          </a:prstGeom>
          <a:noFill/>
          <a:ln/>
        </p:spPr>
        <p:txBody>
          <a:bodyPr wrap="square" rtlCol="0" anchor="ctr"/>
          <a:lstStyle/>
          <a:p>
            <a:pPr marL="342900" indent="-342900">
              <a:lnSpc>
                <a:spcPct val="115000"/>
              </a:lnSpc>
              <a:spcAft>
                <a:spcPts val="1000"/>
              </a:spcAft>
              <a:buSzPct val="100000"/>
              <a:buChar char="•"/>
            </a:pPr>
            <a:r>
              <a:rPr lang="en-US" sz="1450" dirty="0">
                <a:solidFill>
                  <a:srgbClr val="CADCFC"/>
                </a:solidFill>
                <a:latin typeface="Calibri" pitchFamily="34" charset="0"/>
                <a:ea typeface="Calibri" pitchFamily="34" charset="-122"/>
                <a:cs typeface="Calibri" pitchFamily="34" charset="-120"/>
              </a:rPr>
              <a:t>As input size (n) grows, the rate at which an algorithm's work grows determines whether it stays practical or becomes unusable.</a:t>
            </a:r>
            <a:endParaRPr lang="en-US" sz="1450" dirty="0"/>
          </a:p>
          <a:p>
            <a:pPr marL="342900" indent="-342900">
              <a:lnSpc>
                <a:spcPct val="115000"/>
              </a:lnSpc>
              <a:spcAft>
                <a:spcPts val="1000"/>
              </a:spcAft>
              <a:buSzPct val="100000"/>
              <a:buChar char="•"/>
            </a:pPr>
            <a:r>
              <a:rPr lang="en-US" sz="1450" dirty="0">
                <a:solidFill>
                  <a:srgbClr val="CADCFC"/>
                </a:solidFill>
                <a:latin typeface="Calibri" pitchFamily="34" charset="0"/>
                <a:ea typeface="Calibri" pitchFamily="34" charset="-122"/>
                <a:cs typeface="Calibri" pitchFamily="34" charset="-120"/>
              </a:rPr>
              <a:t>This presentation compares the five growth functions that classify nearly all common algorithms, showing their mathematical behavior, representative use cases, and scaling limits.</a:t>
            </a:r>
            <a:endParaRPr lang="en-US" sz="1450" dirty="0"/>
          </a:p>
          <a:p>
            <a:pPr marL="342900" indent="-342900">
              <a:lnSpc>
                <a:spcPct val="115000"/>
              </a:lnSpc>
              <a:buSzPct val="100000"/>
              <a:buChar char="•"/>
            </a:pPr>
            <a:r>
              <a:rPr lang="en-US" sz="1450" dirty="0">
                <a:solidFill>
                  <a:srgbClr val="CADCFC"/>
                </a:solidFill>
                <a:latin typeface="Calibri" pitchFamily="34" charset="0"/>
                <a:ea typeface="Calibri" pitchFamily="34" charset="-122"/>
                <a:cs typeface="Calibri" pitchFamily="34" charset="-120"/>
              </a:rPr>
              <a:t>The goal is to build clear intuition for choosing the right algorithm as data volume increases.</a:t>
            </a:r>
            <a:endParaRPr lang="en-US" sz="1450" dirty="0"/>
          </a:p>
        </p:txBody>
      </p:sp>
      <p:sp>
        <p:nvSpPr>
          <p:cNvPr id="8" name="Shape 6"/>
          <p:cNvSpPr/>
          <p:nvPr/>
        </p:nvSpPr>
        <p:spPr>
          <a:xfrm>
            <a:off x="8732520" y="4800600"/>
            <a:ext cx="566928" cy="566928"/>
          </a:xfrm>
          <a:prstGeom prst="ellipse">
            <a:avLst/>
          </a:prstGeom>
          <a:solidFill>
            <a:srgbClr val="028090"/>
          </a:solidFill>
          <a:ln/>
        </p:spPr>
      </p:sp>
      <p:sp>
        <p:nvSpPr>
          <p:cNvPr id="9" name="Text 7"/>
          <p:cNvSpPr/>
          <p:nvPr/>
        </p:nvSpPr>
        <p:spPr>
          <a:xfrm>
            <a:off x="8732520" y="4800600"/>
            <a:ext cx="566928" cy="56692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log n</a:t>
            </a:r>
            <a:endParaRPr lang="en-US" sz="1500" dirty="0"/>
          </a:p>
        </p:txBody>
      </p:sp>
      <p:sp>
        <p:nvSpPr>
          <p:cNvPr id="10" name="Shape 8"/>
          <p:cNvSpPr/>
          <p:nvPr/>
        </p:nvSpPr>
        <p:spPr>
          <a:xfrm>
            <a:off x="9390888" y="4800600"/>
            <a:ext cx="566928" cy="566928"/>
          </a:xfrm>
          <a:prstGeom prst="ellipse">
            <a:avLst/>
          </a:prstGeom>
          <a:solidFill>
            <a:srgbClr val="00A896"/>
          </a:solidFill>
          <a:ln/>
        </p:spPr>
      </p:sp>
      <p:sp>
        <p:nvSpPr>
          <p:cNvPr id="11" name="Text 9"/>
          <p:cNvSpPr/>
          <p:nvPr/>
        </p:nvSpPr>
        <p:spPr>
          <a:xfrm>
            <a:off x="9390888" y="4800600"/>
            <a:ext cx="566928" cy="56692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a:t>
            </a:r>
            <a:endParaRPr lang="en-US" sz="1500" dirty="0"/>
          </a:p>
        </p:txBody>
      </p:sp>
      <p:sp>
        <p:nvSpPr>
          <p:cNvPr id="12" name="Shape 10"/>
          <p:cNvSpPr/>
          <p:nvPr/>
        </p:nvSpPr>
        <p:spPr>
          <a:xfrm>
            <a:off x="10049256" y="4800600"/>
            <a:ext cx="566928" cy="566928"/>
          </a:xfrm>
          <a:prstGeom prst="ellipse">
            <a:avLst/>
          </a:prstGeom>
          <a:solidFill>
            <a:srgbClr val="F9A825"/>
          </a:solidFill>
          <a:ln/>
        </p:spPr>
      </p:sp>
      <p:sp>
        <p:nvSpPr>
          <p:cNvPr id="13" name="Text 11"/>
          <p:cNvSpPr/>
          <p:nvPr/>
        </p:nvSpPr>
        <p:spPr>
          <a:xfrm>
            <a:off x="10049256" y="4800600"/>
            <a:ext cx="566928" cy="56692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n·log n</a:t>
            </a:r>
            <a:endParaRPr lang="en-US" sz="1500" dirty="0"/>
          </a:p>
        </p:txBody>
      </p:sp>
      <p:sp>
        <p:nvSpPr>
          <p:cNvPr id="14" name="Shape 12"/>
          <p:cNvSpPr/>
          <p:nvPr/>
        </p:nvSpPr>
        <p:spPr>
          <a:xfrm>
            <a:off x="10707624" y="4800600"/>
            <a:ext cx="566928" cy="566928"/>
          </a:xfrm>
          <a:prstGeom prst="ellipse">
            <a:avLst/>
          </a:prstGeom>
          <a:solidFill>
            <a:srgbClr val="E8590C"/>
          </a:solidFill>
          <a:ln/>
        </p:spPr>
      </p:sp>
      <p:sp>
        <p:nvSpPr>
          <p:cNvPr id="15" name="Text 13"/>
          <p:cNvSpPr/>
          <p:nvPr/>
        </p:nvSpPr>
        <p:spPr>
          <a:xfrm>
            <a:off x="10707624" y="4800600"/>
            <a:ext cx="566928" cy="56692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n²</a:t>
            </a:r>
            <a:endParaRPr lang="en-US" sz="1500" dirty="0"/>
          </a:p>
        </p:txBody>
      </p:sp>
      <p:sp>
        <p:nvSpPr>
          <p:cNvPr id="16" name="Shape 14"/>
          <p:cNvSpPr/>
          <p:nvPr/>
        </p:nvSpPr>
        <p:spPr>
          <a:xfrm>
            <a:off x="11365992" y="4800600"/>
            <a:ext cx="566928" cy="566928"/>
          </a:xfrm>
          <a:prstGeom prst="ellipse">
            <a:avLst/>
          </a:prstGeom>
          <a:solidFill>
            <a:srgbClr val="C62828"/>
          </a:solidFill>
          <a:ln/>
        </p:spPr>
      </p:sp>
      <p:sp>
        <p:nvSpPr>
          <p:cNvPr id="17" name="Text 15"/>
          <p:cNvSpPr/>
          <p:nvPr/>
        </p:nvSpPr>
        <p:spPr>
          <a:xfrm>
            <a:off x="11365992" y="4800600"/>
            <a:ext cx="566928" cy="56692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2ⁿ</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GROWTH FUNCTION 1 OF 5</a:t>
            </a:r>
            <a:endParaRPr lang="en-US" sz="1200" dirty="0"/>
          </a:p>
        </p:txBody>
      </p:sp>
      <p:sp>
        <p:nvSpPr>
          <p:cNvPr id="3" name="Text 1"/>
          <p:cNvSpPr/>
          <p:nvPr/>
        </p:nvSpPr>
        <p:spPr>
          <a:xfrm>
            <a:off x="548640" y="621792"/>
            <a:ext cx="9601200" cy="640080"/>
          </a:xfrm>
          <a:prstGeom prst="rect">
            <a:avLst/>
          </a:prstGeom>
          <a:noFill/>
          <a:ln/>
        </p:spPr>
        <p:txBody>
          <a:bodyPr wrap="square" rtlCol="0" anchor="ctr"/>
          <a:lstStyle/>
          <a:p>
            <a:pPr marL="0" indent="0">
              <a:buNone/>
            </a:pPr>
            <a:r>
              <a:rPr lang="en-US" sz="3000" b="1" dirty="0">
                <a:solidFill>
                  <a:srgbClr val="1B1B2F"/>
                </a:solidFill>
                <a:latin typeface="Cambria" pitchFamily="34" charset="0"/>
                <a:ea typeface="Cambria" pitchFamily="34" charset="-122"/>
                <a:cs typeface="Cambria" pitchFamily="34" charset="-120"/>
              </a:rPr>
              <a:t>O(log n) — Logarithmic Growth</a:t>
            </a:r>
            <a:endParaRPr lang="en-US" sz="3000" dirty="0"/>
          </a:p>
        </p:txBody>
      </p:sp>
      <p:sp>
        <p:nvSpPr>
          <p:cNvPr id="4" name="Shape 2"/>
          <p:cNvSpPr/>
          <p:nvPr/>
        </p:nvSpPr>
        <p:spPr>
          <a:xfrm>
            <a:off x="548640" y="1417320"/>
            <a:ext cx="777240" cy="777240"/>
          </a:xfrm>
          <a:prstGeom prst="ellipse">
            <a:avLst/>
          </a:prstGeom>
          <a:solidFill>
            <a:srgbClr val="028090"/>
          </a:solidFill>
          <a:ln/>
        </p:spPr>
      </p:sp>
      <p:sp>
        <p:nvSpPr>
          <p:cNvPr id="5" name="Text 3"/>
          <p:cNvSpPr/>
          <p:nvPr/>
        </p:nvSpPr>
        <p:spPr>
          <a:xfrm>
            <a:off x="548640" y="1417320"/>
            <a:ext cx="777240" cy="7772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log n</a:t>
            </a:r>
            <a:endParaRPr lang="en-US" sz="1500" dirty="0"/>
          </a:p>
        </p:txBody>
      </p:sp>
      <p:sp>
        <p:nvSpPr>
          <p:cNvPr id="6" name="Text 4"/>
          <p:cNvSpPr/>
          <p:nvPr/>
        </p:nvSpPr>
        <p:spPr>
          <a:xfrm>
            <a:off x="1508760" y="1417320"/>
            <a:ext cx="4297680" cy="822960"/>
          </a:xfrm>
          <a:prstGeom prst="rect">
            <a:avLst/>
          </a:prstGeom>
          <a:noFill/>
          <a:ln/>
        </p:spPr>
        <p:txBody>
          <a:bodyPr wrap="square" rtlCol="0" anchor="ctr"/>
          <a:lstStyle/>
          <a:p>
            <a:pPr marL="0" indent="0">
              <a:buNone/>
            </a:pPr>
            <a:r>
              <a:rPr lang="en-US" sz="1350" i="1" dirty="0">
                <a:solidFill>
                  <a:srgbClr val="5B6178"/>
                </a:solidFill>
                <a:latin typeface="Calibri" pitchFamily="34" charset="0"/>
                <a:ea typeface="Calibri" pitchFamily="34" charset="-122"/>
                <a:cs typeface="Calibri" pitchFamily="34" charset="-120"/>
              </a:rPr>
              <a:t>f(n) = log₂(n)</a:t>
            </a:r>
            <a:endParaRPr lang="en-US" sz="1350" dirty="0"/>
          </a:p>
          <a:p>
            <a:pPr marL="0" indent="0">
              <a:buNone/>
            </a:pPr>
            <a:r>
              <a:rPr lang="en-US" sz="1350" i="1" dirty="0">
                <a:solidFill>
                  <a:srgbClr val="5B6178"/>
                </a:solidFill>
                <a:latin typeface="Calibri" pitchFamily="34" charset="0"/>
                <a:ea typeface="Calibri" pitchFamily="34" charset="-122"/>
                <a:cs typeface="Calibri" pitchFamily="34" charset="-120"/>
              </a:rPr>
              <a:t>Work grows by a fixed amount each time n doubles.</a:t>
            </a:r>
            <a:endParaRPr lang="en-US" sz="1350" dirty="0"/>
          </a:p>
        </p:txBody>
      </p:sp>
      <p:sp>
        <p:nvSpPr>
          <p:cNvPr id="7" name="Text 5"/>
          <p:cNvSpPr/>
          <p:nvPr/>
        </p:nvSpPr>
        <p:spPr>
          <a:xfrm>
            <a:off x="548640" y="2331720"/>
            <a:ext cx="5120640" cy="274320"/>
          </a:xfrm>
          <a:prstGeom prst="rect">
            <a:avLst/>
          </a:prstGeom>
          <a:noFill/>
          <a:ln/>
        </p:spPr>
        <p:txBody>
          <a:bodyPr wrap="square" rtlCol="0" anchor="ctr"/>
          <a:lstStyle/>
          <a:p>
            <a:pPr marL="0" indent="0">
              <a:buNone/>
            </a:pPr>
            <a:r>
              <a:rPr lang="en-US" sz="1150" b="1" kern="0" spc="100" dirty="0">
                <a:solidFill>
                  <a:srgbClr val="028090"/>
                </a:solidFill>
                <a:latin typeface="Calibri" pitchFamily="34" charset="0"/>
                <a:ea typeface="Calibri" pitchFamily="34" charset="-122"/>
                <a:cs typeface="Calibri" pitchFamily="34" charset="-120"/>
              </a:rPr>
              <a:t>MATHEMATICAL BEHAVIOR</a:t>
            </a:r>
            <a:endParaRPr lang="en-US" sz="1150" dirty="0"/>
          </a:p>
        </p:txBody>
      </p:sp>
      <p:sp>
        <p:nvSpPr>
          <p:cNvPr id="8" name="Text 6"/>
          <p:cNvSpPr/>
          <p:nvPr/>
        </p:nvSpPr>
        <p:spPr>
          <a:xfrm>
            <a:off x="548640" y="2606040"/>
            <a:ext cx="5120640" cy="1600200"/>
          </a:xfrm>
          <a:prstGeom prst="rect">
            <a:avLst/>
          </a:prstGeom>
          <a:noFill/>
          <a:ln/>
        </p:spPr>
        <p:txBody>
          <a:bodyPr wrap="square" rtlCol="0" anchor="ctr"/>
          <a:lstStyle/>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Grows extremely slowly — doubling the input adds only one more unit of work.</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Typical of algorithms that discard a constant fraction of the data at every step.</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Near-flat on a linear chart even as n reaches the millions.</a:t>
            </a:r>
            <a:endParaRPr lang="en-US" sz="1300" dirty="0"/>
          </a:p>
        </p:txBody>
      </p:sp>
      <p:sp>
        <p:nvSpPr>
          <p:cNvPr id="9" name="Text 7"/>
          <p:cNvSpPr/>
          <p:nvPr/>
        </p:nvSpPr>
        <p:spPr>
          <a:xfrm>
            <a:off x="548640" y="4343400"/>
            <a:ext cx="5120640" cy="274320"/>
          </a:xfrm>
          <a:prstGeom prst="rect">
            <a:avLst/>
          </a:prstGeom>
          <a:noFill/>
          <a:ln/>
        </p:spPr>
        <p:txBody>
          <a:bodyPr wrap="square" rtlCol="0" anchor="ctr"/>
          <a:lstStyle/>
          <a:p>
            <a:pPr marL="0" indent="0">
              <a:buNone/>
            </a:pPr>
            <a:r>
              <a:rPr lang="en-US" sz="1150" b="1" kern="0" spc="100" dirty="0">
                <a:solidFill>
                  <a:srgbClr val="028090"/>
                </a:solidFill>
                <a:latin typeface="Calibri" pitchFamily="34" charset="0"/>
                <a:ea typeface="Calibri" pitchFamily="34" charset="-122"/>
                <a:cs typeface="Calibri" pitchFamily="34" charset="-120"/>
              </a:rPr>
              <a:t>TYPICAL ALGORITHMS</a:t>
            </a:r>
            <a:endParaRPr lang="en-US" sz="1150" dirty="0"/>
          </a:p>
        </p:txBody>
      </p:sp>
      <p:sp>
        <p:nvSpPr>
          <p:cNvPr id="10" name="Text 8"/>
          <p:cNvSpPr/>
          <p:nvPr/>
        </p:nvSpPr>
        <p:spPr>
          <a:xfrm>
            <a:off x="548640" y="4617720"/>
            <a:ext cx="5120640" cy="1691640"/>
          </a:xfrm>
          <a:prstGeom prst="rect">
            <a:avLst/>
          </a:prstGeom>
          <a:noFill/>
          <a:ln/>
        </p:spPr>
        <p:txBody>
          <a:bodyPr wrap="square" rtlCol="0" anchor="ctr"/>
          <a:lstStyle/>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Binary search on a sorted array</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Balanced binary search tree operations (insert, find, delete)</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Finding an element in a heap</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Bitwise operations that halve a range (e.g., fast exponentiation)</a:t>
            </a:r>
            <a:endParaRPr lang="en-US" sz="1300" dirty="0"/>
          </a:p>
        </p:txBody>
      </p:sp>
      <p:sp>
        <p:nvSpPr>
          <p:cNvPr id="11" name="Shape 9"/>
          <p:cNvSpPr/>
          <p:nvPr/>
        </p:nvSpPr>
        <p:spPr>
          <a:xfrm>
            <a:off x="5989320" y="1417320"/>
            <a:ext cx="5623560" cy="4892040"/>
          </a:xfrm>
          <a:prstGeom prst="roundRect">
            <a:avLst>
              <a:gd name="adj" fmla="val 1495"/>
            </a:avLst>
          </a:prstGeom>
          <a:solidFill>
            <a:srgbClr val="F7F8FC"/>
          </a:solidFill>
          <a:ln w="12700">
            <a:solidFill>
              <a:srgbClr val="E3E6F0"/>
            </a:solidFill>
            <a:prstDash val="solid"/>
          </a:ln>
        </p:spPr>
      </p:sp>
      <p:sp>
        <p:nvSpPr>
          <p:cNvPr id="12" name="Text 10"/>
          <p:cNvSpPr/>
          <p:nvPr/>
        </p:nvSpPr>
        <p:spPr>
          <a:xfrm>
            <a:off x="6263640" y="1572768"/>
            <a:ext cx="5120640" cy="320040"/>
          </a:xfrm>
          <a:prstGeom prst="rect">
            <a:avLst/>
          </a:prstGeom>
          <a:noFill/>
          <a:ln/>
        </p:spPr>
        <p:txBody>
          <a:bodyPr wrap="square" rtlCol="0" anchor="ctr"/>
          <a:lstStyle/>
          <a:p>
            <a:pPr marL="0" indent="0">
              <a:buNone/>
            </a:pPr>
            <a:r>
              <a:rPr lang="en-US" sz="1300" b="1" dirty="0">
                <a:solidFill>
                  <a:srgbClr val="1B1B2F"/>
                </a:solidFill>
                <a:latin typeface="Calibri" pitchFamily="34" charset="0"/>
                <a:ea typeface="Calibri" pitchFamily="34" charset="-122"/>
                <a:cs typeface="Calibri" pitchFamily="34" charset="-120"/>
              </a:rPr>
              <a:t>log₂(n) for n = 1 to 100</a:t>
            </a:r>
            <a:endParaRPr lang="en-US" sz="1300" dirty="0"/>
          </a:p>
        </p:txBody>
      </p:sp>
      <p:graphicFrame>
        <p:nvGraphicFramePr>
          <p:cNvPr id="13" name="Chart 0"/>
          <p:cNvGraphicFramePr/>
          <p:nvPr/>
        </p:nvGraphicFramePr>
        <p:xfrm>
          <a:off x="6263640" y="1965960"/>
          <a:ext cx="51206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1"/>
          <p:cNvSpPr/>
          <p:nvPr/>
        </p:nvSpPr>
        <p:spPr>
          <a:xfrm>
            <a:off x="6263640" y="5669280"/>
            <a:ext cx="5120640" cy="502920"/>
          </a:xfrm>
          <a:prstGeom prst="rect">
            <a:avLst/>
          </a:prstGeom>
          <a:noFill/>
          <a:ln/>
        </p:spPr>
        <p:txBody>
          <a:bodyPr wrap="square" rtlCol="0" anchor="ctr"/>
          <a:lstStyle/>
          <a:p>
            <a:pPr marL="0" indent="0">
              <a:buNone/>
            </a:pPr>
            <a:r>
              <a:rPr lang="en-US" sz="1050" i="1" dirty="0">
                <a:solidFill>
                  <a:srgbClr val="5B6178"/>
                </a:solidFill>
                <a:latin typeface="Calibri" pitchFamily="34" charset="0"/>
                <a:ea typeface="Calibri" pitchFamily="34" charset="-122"/>
                <a:cs typeface="Calibri" pitchFamily="34" charset="-120"/>
              </a:rPr>
              <a:t>At n = 1,000,000, log₂(n) ≈ 20 — essentially constant in practice.</a:t>
            </a:r>
            <a:endParaRPr lang="en-US" sz="1050" dirty="0"/>
          </a:p>
        </p:txBody>
      </p:sp>
      <p:sp>
        <p:nvSpPr>
          <p:cNvPr id="15" name="Text 12"/>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GROWTH FUNCTION 2 OF 5</a:t>
            </a:r>
            <a:endParaRPr lang="en-US" sz="1200" dirty="0"/>
          </a:p>
        </p:txBody>
      </p:sp>
      <p:sp>
        <p:nvSpPr>
          <p:cNvPr id="3" name="Text 1"/>
          <p:cNvSpPr/>
          <p:nvPr/>
        </p:nvSpPr>
        <p:spPr>
          <a:xfrm>
            <a:off x="548640" y="621792"/>
            <a:ext cx="9601200" cy="640080"/>
          </a:xfrm>
          <a:prstGeom prst="rect">
            <a:avLst/>
          </a:prstGeom>
          <a:noFill/>
          <a:ln/>
        </p:spPr>
        <p:txBody>
          <a:bodyPr wrap="square" rtlCol="0" anchor="ctr"/>
          <a:lstStyle/>
          <a:p>
            <a:pPr marL="0" indent="0">
              <a:buNone/>
            </a:pPr>
            <a:r>
              <a:rPr lang="en-US" sz="3000" b="1" dirty="0">
                <a:solidFill>
                  <a:srgbClr val="1B1B2F"/>
                </a:solidFill>
                <a:latin typeface="Cambria" pitchFamily="34" charset="0"/>
                <a:ea typeface="Cambria" pitchFamily="34" charset="-122"/>
                <a:cs typeface="Cambria" pitchFamily="34" charset="-120"/>
              </a:rPr>
              <a:t>O(n) — Linear Growth</a:t>
            </a:r>
            <a:endParaRPr lang="en-US" sz="3000" dirty="0"/>
          </a:p>
        </p:txBody>
      </p:sp>
      <p:sp>
        <p:nvSpPr>
          <p:cNvPr id="4" name="Shape 2"/>
          <p:cNvSpPr/>
          <p:nvPr/>
        </p:nvSpPr>
        <p:spPr>
          <a:xfrm>
            <a:off x="548640" y="1417320"/>
            <a:ext cx="777240" cy="777240"/>
          </a:xfrm>
          <a:prstGeom prst="ellipse">
            <a:avLst/>
          </a:prstGeom>
          <a:solidFill>
            <a:srgbClr val="00A896"/>
          </a:solidFill>
          <a:ln/>
        </p:spPr>
      </p:sp>
      <p:sp>
        <p:nvSpPr>
          <p:cNvPr id="5" name="Text 3"/>
          <p:cNvSpPr/>
          <p:nvPr/>
        </p:nvSpPr>
        <p:spPr>
          <a:xfrm>
            <a:off x="548640" y="1417320"/>
            <a:ext cx="777240" cy="7772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a:t>
            </a:r>
            <a:endParaRPr lang="en-US" sz="1500" dirty="0"/>
          </a:p>
        </p:txBody>
      </p:sp>
      <p:sp>
        <p:nvSpPr>
          <p:cNvPr id="6" name="Text 4"/>
          <p:cNvSpPr/>
          <p:nvPr/>
        </p:nvSpPr>
        <p:spPr>
          <a:xfrm>
            <a:off x="1508760" y="1417320"/>
            <a:ext cx="4297680" cy="822960"/>
          </a:xfrm>
          <a:prstGeom prst="rect">
            <a:avLst/>
          </a:prstGeom>
          <a:noFill/>
          <a:ln/>
        </p:spPr>
        <p:txBody>
          <a:bodyPr wrap="square" rtlCol="0" anchor="ctr"/>
          <a:lstStyle/>
          <a:p>
            <a:pPr marL="0" indent="0">
              <a:buNone/>
            </a:pPr>
            <a:r>
              <a:rPr lang="en-US" sz="1350" i="1" dirty="0">
                <a:solidFill>
                  <a:srgbClr val="5B6178"/>
                </a:solidFill>
                <a:latin typeface="Calibri" pitchFamily="34" charset="0"/>
                <a:ea typeface="Calibri" pitchFamily="34" charset="-122"/>
                <a:cs typeface="Calibri" pitchFamily="34" charset="-120"/>
              </a:rPr>
              <a:t>f(n) = n</a:t>
            </a:r>
            <a:endParaRPr lang="en-US" sz="1350" dirty="0"/>
          </a:p>
          <a:p>
            <a:pPr marL="0" indent="0">
              <a:buNone/>
            </a:pPr>
            <a:r>
              <a:rPr lang="en-US" sz="1350" i="1" dirty="0">
                <a:solidFill>
                  <a:srgbClr val="5B6178"/>
                </a:solidFill>
                <a:latin typeface="Calibri" pitchFamily="34" charset="0"/>
                <a:ea typeface="Calibri" pitchFamily="34" charset="-122"/>
                <a:cs typeface="Calibri" pitchFamily="34" charset="-120"/>
              </a:rPr>
              <a:t>Work scales directly and proportionally with input size.</a:t>
            </a:r>
            <a:endParaRPr lang="en-US" sz="1350" dirty="0"/>
          </a:p>
        </p:txBody>
      </p:sp>
      <p:sp>
        <p:nvSpPr>
          <p:cNvPr id="7" name="Text 5"/>
          <p:cNvSpPr/>
          <p:nvPr/>
        </p:nvSpPr>
        <p:spPr>
          <a:xfrm>
            <a:off x="548640" y="2331720"/>
            <a:ext cx="5120640" cy="274320"/>
          </a:xfrm>
          <a:prstGeom prst="rect">
            <a:avLst/>
          </a:prstGeom>
          <a:noFill/>
          <a:ln/>
        </p:spPr>
        <p:txBody>
          <a:bodyPr wrap="square" rtlCol="0" anchor="ctr"/>
          <a:lstStyle/>
          <a:p>
            <a:pPr marL="0" indent="0">
              <a:buNone/>
            </a:pPr>
            <a:r>
              <a:rPr lang="en-US" sz="1150" b="1" kern="0" spc="100" dirty="0">
                <a:solidFill>
                  <a:srgbClr val="00A896"/>
                </a:solidFill>
                <a:latin typeface="Calibri" pitchFamily="34" charset="0"/>
                <a:ea typeface="Calibri" pitchFamily="34" charset="-122"/>
                <a:cs typeface="Calibri" pitchFamily="34" charset="-120"/>
              </a:rPr>
              <a:t>MATHEMATICAL BEHAVIOR</a:t>
            </a:r>
            <a:endParaRPr lang="en-US" sz="1150" dirty="0"/>
          </a:p>
        </p:txBody>
      </p:sp>
      <p:sp>
        <p:nvSpPr>
          <p:cNvPr id="8" name="Text 6"/>
          <p:cNvSpPr/>
          <p:nvPr/>
        </p:nvSpPr>
        <p:spPr>
          <a:xfrm>
            <a:off x="548640" y="2606040"/>
            <a:ext cx="5120640" cy="1600200"/>
          </a:xfrm>
          <a:prstGeom prst="rect">
            <a:avLst/>
          </a:prstGeom>
          <a:noFill/>
          <a:ln/>
        </p:spPr>
        <p:txBody>
          <a:bodyPr wrap="square" rtlCol="0" anchor="ctr"/>
          <a:lstStyle/>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Doubling the input exactly doubles the work — a straight diagonal line.</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Every element must be visited or processed at least once.</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The baseline against which faster and slower algorithms are measured.</a:t>
            </a:r>
            <a:endParaRPr lang="en-US" sz="1300" dirty="0"/>
          </a:p>
        </p:txBody>
      </p:sp>
      <p:sp>
        <p:nvSpPr>
          <p:cNvPr id="9" name="Text 7"/>
          <p:cNvSpPr/>
          <p:nvPr/>
        </p:nvSpPr>
        <p:spPr>
          <a:xfrm>
            <a:off x="548640" y="4343400"/>
            <a:ext cx="5120640" cy="274320"/>
          </a:xfrm>
          <a:prstGeom prst="rect">
            <a:avLst/>
          </a:prstGeom>
          <a:noFill/>
          <a:ln/>
        </p:spPr>
        <p:txBody>
          <a:bodyPr wrap="square" rtlCol="0" anchor="ctr"/>
          <a:lstStyle/>
          <a:p>
            <a:pPr marL="0" indent="0">
              <a:buNone/>
            </a:pPr>
            <a:r>
              <a:rPr lang="en-US" sz="1150" b="1" kern="0" spc="100" dirty="0">
                <a:solidFill>
                  <a:srgbClr val="00A896"/>
                </a:solidFill>
                <a:latin typeface="Calibri" pitchFamily="34" charset="0"/>
                <a:ea typeface="Calibri" pitchFamily="34" charset="-122"/>
                <a:cs typeface="Calibri" pitchFamily="34" charset="-120"/>
              </a:rPr>
              <a:t>TYPICAL ALGORITHMS</a:t>
            </a:r>
            <a:endParaRPr lang="en-US" sz="1150" dirty="0"/>
          </a:p>
        </p:txBody>
      </p:sp>
      <p:sp>
        <p:nvSpPr>
          <p:cNvPr id="10" name="Text 8"/>
          <p:cNvSpPr/>
          <p:nvPr/>
        </p:nvSpPr>
        <p:spPr>
          <a:xfrm>
            <a:off x="548640" y="4617720"/>
            <a:ext cx="5120640" cy="1691640"/>
          </a:xfrm>
          <a:prstGeom prst="rect">
            <a:avLst/>
          </a:prstGeom>
          <a:noFill/>
          <a:ln/>
        </p:spPr>
        <p:txBody>
          <a:bodyPr wrap="square" rtlCol="0" anchor="ctr"/>
          <a:lstStyle/>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Linear search through an unsorted list</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Traversing an array or a linked list once</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Computing a sum, minimum, or maximum of n items</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Single-pass string scanning (e.g., counting characters)</a:t>
            </a:r>
            <a:endParaRPr lang="en-US" sz="1300" dirty="0"/>
          </a:p>
        </p:txBody>
      </p:sp>
      <p:sp>
        <p:nvSpPr>
          <p:cNvPr id="11" name="Shape 9"/>
          <p:cNvSpPr/>
          <p:nvPr/>
        </p:nvSpPr>
        <p:spPr>
          <a:xfrm>
            <a:off x="5989320" y="1417320"/>
            <a:ext cx="5623560" cy="4892040"/>
          </a:xfrm>
          <a:prstGeom prst="roundRect">
            <a:avLst>
              <a:gd name="adj" fmla="val 1495"/>
            </a:avLst>
          </a:prstGeom>
          <a:solidFill>
            <a:srgbClr val="F7F8FC"/>
          </a:solidFill>
          <a:ln w="12700">
            <a:solidFill>
              <a:srgbClr val="E3E6F0"/>
            </a:solidFill>
            <a:prstDash val="solid"/>
          </a:ln>
        </p:spPr>
      </p:sp>
      <p:sp>
        <p:nvSpPr>
          <p:cNvPr id="12" name="Text 10"/>
          <p:cNvSpPr/>
          <p:nvPr/>
        </p:nvSpPr>
        <p:spPr>
          <a:xfrm>
            <a:off x="6263640" y="1572768"/>
            <a:ext cx="5120640" cy="320040"/>
          </a:xfrm>
          <a:prstGeom prst="rect">
            <a:avLst/>
          </a:prstGeom>
          <a:noFill/>
          <a:ln/>
        </p:spPr>
        <p:txBody>
          <a:bodyPr wrap="square" rtlCol="0" anchor="ctr"/>
          <a:lstStyle/>
          <a:p>
            <a:pPr marL="0" indent="0">
              <a:buNone/>
            </a:pPr>
            <a:r>
              <a:rPr lang="en-US" sz="1300" b="1" dirty="0">
                <a:solidFill>
                  <a:srgbClr val="1B1B2F"/>
                </a:solidFill>
                <a:latin typeface="Calibri" pitchFamily="34" charset="0"/>
                <a:ea typeface="Calibri" pitchFamily="34" charset="-122"/>
                <a:cs typeface="Calibri" pitchFamily="34" charset="-120"/>
              </a:rPr>
              <a:t>n for n = 1 to 100</a:t>
            </a:r>
            <a:endParaRPr lang="en-US" sz="1300" dirty="0"/>
          </a:p>
        </p:txBody>
      </p:sp>
      <p:graphicFrame>
        <p:nvGraphicFramePr>
          <p:cNvPr id="13" name="Chart 0"/>
          <p:cNvGraphicFramePr/>
          <p:nvPr/>
        </p:nvGraphicFramePr>
        <p:xfrm>
          <a:off x="6263640" y="1965960"/>
          <a:ext cx="51206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1"/>
          <p:cNvSpPr/>
          <p:nvPr/>
        </p:nvSpPr>
        <p:spPr>
          <a:xfrm>
            <a:off x="6263640" y="5669280"/>
            <a:ext cx="5120640" cy="502920"/>
          </a:xfrm>
          <a:prstGeom prst="rect">
            <a:avLst/>
          </a:prstGeom>
          <a:noFill/>
          <a:ln/>
        </p:spPr>
        <p:txBody>
          <a:bodyPr wrap="square" rtlCol="0" anchor="ctr"/>
          <a:lstStyle/>
          <a:p>
            <a:pPr marL="0" indent="0">
              <a:buNone/>
            </a:pPr>
            <a:r>
              <a:rPr lang="en-US" sz="1050" i="1" dirty="0">
                <a:solidFill>
                  <a:srgbClr val="5B6178"/>
                </a:solidFill>
                <a:latin typeface="Calibri" pitchFamily="34" charset="0"/>
                <a:ea typeface="Calibri" pitchFamily="34" charset="-122"/>
                <a:cs typeface="Calibri" pitchFamily="34" charset="-120"/>
              </a:rPr>
              <a:t>At n = 1,000,000, the algorithm performs about 1,000,000 operations — directly proportional.</a:t>
            </a:r>
            <a:endParaRPr lang="en-US" sz="1050" dirty="0"/>
          </a:p>
        </p:txBody>
      </p:sp>
      <p:sp>
        <p:nvSpPr>
          <p:cNvPr id="15" name="Text 12"/>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F9A825"/>
                </a:solidFill>
                <a:latin typeface="Calibri" pitchFamily="34" charset="0"/>
                <a:ea typeface="Calibri" pitchFamily="34" charset="-122"/>
                <a:cs typeface="Calibri" pitchFamily="34" charset="-120"/>
              </a:rPr>
              <a:t>GROWTH FUNCTION 3 OF 5</a:t>
            </a:r>
            <a:endParaRPr lang="en-US" sz="1200" dirty="0"/>
          </a:p>
        </p:txBody>
      </p:sp>
      <p:sp>
        <p:nvSpPr>
          <p:cNvPr id="3" name="Text 1"/>
          <p:cNvSpPr/>
          <p:nvPr/>
        </p:nvSpPr>
        <p:spPr>
          <a:xfrm>
            <a:off x="548640" y="621792"/>
            <a:ext cx="9601200" cy="640080"/>
          </a:xfrm>
          <a:prstGeom prst="rect">
            <a:avLst/>
          </a:prstGeom>
          <a:noFill/>
          <a:ln/>
        </p:spPr>
        <p:txBody>
          <a:bodyPr wrap="square" rtlCol="0" anchor="ctr"/>
          <a:lstStyle/>
          <a:p>
            <a:pPr marL="0" indent="0">
              <a:buNone/>
            </a:pPr>
            <a:r>
              <a:rPr lang="en-US" sz="3000" b="1" dirty="0">
                <a:solidFill>
                  <a:srgbClr val="1B1B2F"/>
                </a:solidFill>
                <a:latin typeface="Cambria" pitchFamily="34" charset="0"/>
                <a:ea typeface="Cambria" pitchFamily="34" charset="-122"/>
                <a:cs typeface="Cambria" pitchFamily="34" charset="-120"/>
              </a:rPr>
              <a:t>O(n log n) — Linearithmic Growth</a:t>
            </a:r>
            <a:endParaRPr lang="en-US" sz="3000" dirty="0"/>
          </a:p>
        </p:txBody>
      </p:sp>
      <p:sp>
        <p:nvSpPr>
          <p:cNvPr id="4" name="Shape 2"/>
          <p:cNvSpPr/>
          <p:nvPr/>
        </p:nvSpPr>
        <p:spPr>
          <a:xfrm>
            <a:off x="548640" y="1417320"/>
            <a:ext cx="777240" cy="777240"/>
          </a:xfrm>
          <a:prstGeom prst="ellipse">
            <a:avLst/>
          </a:prstGeom>
          <a:solidFill>
            <a:srgbClr val="F9A825"/>
          </a:solidFill>
          <a:ln/>
        </p:spPr>
      </p:sp>
      <p:sp>
        <p:nvSpPr>
          <p:cNvPr id="5" name="Text 3"/>
          <p:cNvSpPr/>
          <p:nvPr/>
        </p:nvSpPr>
        <p:spPr>
          <a:xfrm>
            <a:off x="548640" y="1417320"/>
            <a:ext cx="777240" cy="7772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n·log n</a:t>
            </a:r>
            <a:endParaRPr lang="en-US" sz="1500" dirty="0"/>
          </a:p>
        </p:txBody>
      </p:sp>
      <p:sp>
        <p:nvSpPr>
          <p:cNvPr id="6" name="Text 4"/>
          <p:cNvSpPr/>
          <p:nvPr/>
        </p:nvSpPr>
        <p:spPr>
          <a:xfrm>
            <a:off x="1508760" y="1417320"/>
            <a:ext cx="4297680" cy="822960"/>
          </a:xfrm>
          <a:prstGeom prst="rect">
            <a:avLst/>
          </a:prstGeom>
          <a:noFill/>
          <a:ln/>
        </p:spPr>
        <p:txBody>
          <a:bodyPr wrap="square" rtlCol="0" anchor="ctr"/>
          <a:lstStyle/>
          <a:p>
            <a:pPr marL="0" indent="0">
              <a:buNone/>
            </a:pPr>
            <a:r>
              <a:rPr lang="en-US" sz="1350" i="1" dirty="0">
                <a:solidFill>
                  <a:srgbClr val="5B6178"/>
                </a:solidFill>
                <a:latin typeface="Calibri" pitchFamily="34" charset="0"/>
                <a:ea typeface="Calibri" pitchFamily="34" charset="-122"/>
                <a:cs typeface="Calibri" pitchFamily="34" charset="-120"/>
              </a:rPr>
              <a:t>f(n) = n · log₂(n)</a:t>
            </a:r>
            <a:endParaRPr lang="en-US" sz="1350" dirty="0"/>
          </a:p>
          <a:p>
            <a:pPr marL="0" indent="0">
              <a:buNone/>
            </a:pPr>
            <a:r>
              <a:rPr lang="en-US" sz="1350" i="1" dirty="0">
                <a:solidFill>
                  <a:srgbClr val="5B6178"/>
                </a:solidFill>
                <a:latin typeface="Calibri" pitchFamily="34" charset="0"/>
                <a:ea typeface="Calibri" pitchFamily="34" charset="-122"/>
                <a:cs typeface="Calibri" pitchFamily="34" charset="-120"/>
              </a:rPr>
              <a:t>Linear work repeated across log(n) levels of splitting.</a:t>
            </a:r>
            <a:endParaRPr lang="en-US" sz="1350" dirty="0"/>
          </a:p>
        </p:txBody>
      </p:sp>
      <p:sp>
        <p:nvSpPr>
          <p:cNvPr id="7" name="Text 5"/>
          <p:cNvSpPr/>
          <p:nvPr/>
        </p:nvSpPr>
        <p:spPr>
          <a:xfrm>
            <a:off x="548640" y="2331720"/>
            <a:ext cx="5120640" cy="274320"/>
          </a:xfrm>
          <a:prstGeom prst="rect">
            <a:avLst/>
          </a:prstGeom>
          <a:noFill/>
          <a:ln/>
        </p:spPr>
        <p:txBody>
          <a:bodyPr wrap="square" rtlCol="0" anchor="ctr"/>
          <a:lstStyle/>
          <a:p>
            <a:pPr marL="0" indent="0">
              <a:buNone/>
            </a:pPr>
            <a:r>
              <a:rPr lang="en-US" sz="1150" b="1" kern="0" spc="100" dirty="0">
                <a:solidFill>
                  <a:srgbClr val="F9A825"/>
                </a:solidFill>
                <a:latin typeface="Calibri" pitchFamily="34" charset="0"/>
                <a:ea typeface="Calibri" pitchFamily="34" charset="-122"/>
                <a:cs typeface="Calibri" pitchFamily="34" charset="-120"/>
              </a:rPr>
              <a:t>MATHEMATICAL BEHAVIOR</a:t>
            </a:r>
            <a:endParaRPr lang="en-US" sz="1150" dirty="0"/>
          </a:p>
        </p:txBody>
      </p:sp>
      <p:sp>
        <p:nvSpPr>
          <p:cNvPr id="8" name="Text 6"/>
          <p:cNvSpPr/>
          <p:nvPr/>
        </p:nvSpPr>
        <p:spPr>
          <a:xfrm>
            <a:off x="548640" y="2606040"/>
            <a:ext cx="5120640" cy="1600200"/>
          </a:xfrm>
          <a:prstGeom prst="rect">
            <a:avLst/>
          </a:prstGeom>
          <a:noFill/>
          <a:ln/>
        </p:spPr>
        <p:txBody>
          <a:bodyPr wrap="square" rtlCol="0" anchor="ctr"/>
          <a:lstStyle/>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Rises a little faster than a straight line but far slower than a curve.</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Common in divide-and-conquer algorithms: split the problem, solve, then recombine.</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Considered the practical ceiling for efficient large-scale sorting and searching.</a:t>
            </a:r>
            <a:endParaRPr lang="en-US" sz="1300" dirty="0"/>
          </a:p>
        </p:txBody>
      </p:sp>
      <p:sp>
        <p:nvSpPr>
          <p:cNvPr id="9" name="Text 7"/>
          <p:cNvSpPr/>
          <p:nvPr/>
        </p:nvSpPr>
        <p:spPr>
          <a:xfrm>
            <a:off x="548640" y="4343400"/>
            <a:ext cx="5120640" cy="274320"/>
          </a:xfrm>
          <a:prstGeom prst="rect">
            <a:avLst/>
          </a:prstGeom>
          <a:noFill/>
          <a:ln/>
        </p:spPr>
        <p:txBody>
          <a:bodyPr wrap="square" rtlCol="0" anchor="ctr"/>
          <a:lstStyle/>
          <a:p>
            <a:pPr marL="0" indent="0">
              <a:buNone/>
            </a:pPr>
            <a:r>
              <a:rPr lang="en-US" sz="1150" b="1" kern="0" spc="100" dirty="0">
                <a:solidFill>
                  <a:srgbClr val="F9A825"/>
                </a:solidFill>
                <a:latin typeface="Calibri" pitchFamily="34" charset="0"/>
                <a:ea typeface="Calibri" pitchFamily="34" charset="-122"/>
                <a:cs typeface="Calibri" pitchFamily="34" charset="-120"/>
              </a:rPr>
              <a:t>TYPICAL ALGORITHMS</a:t>
            </a:r>
            <a:endParaRPr lang="en-US" sz="1150" dirty="0"/>
          </a:p>
        </p:txBody>
      </p:sp>
      <p:sp>
        <p:nvSpPr>
          <p:cNvPr id="10" name="Text 8"/>
          <p:cNvSpPr/>
          <p:nvPr/>
        </p:nvSpPr>
        <p:spPr>
          <a:xfrm>
            <a:off x="548640" y="4617720"/>
            <a:ext cx="5120640" cy="1691640"/>
          </a:xfrm>
          <a:prstGeom prst="rect">
            <a:avLst/>
          </a:prstGeom>
          <a:noFill/>
          <a:ln/>
        </p:spPr>
        <p:txBody>
          <a:bodyPr wrap="square" rtlCol="0" anchor="ctr"/>
          <a:lstStyle/>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Merge sort and quicksort (average case)</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Heapsort</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Fast Fourier Transform (FFT)</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Efficient comparison-based sorting in general</a:t>
            </a:r>
            <a:endParaRPr lang="en-US" sz="1300" dirty="0"/>
          </a:p>
        </p:txBody>
      </p:sp>
      <p:sp>
        <p:nvSpPr>
          <p:cNvPr id="11" name="Shape 9"/>
          <p:cNvSpPr/>
          <p:nvPr/>
        </p:nvSpPr>
        <p:spPr>
          <a:xfrm>
            <a:off x="5989320" y="1417320"/>
            <a:ext cx="5623560" cy="4892040"/>
          </a:xfrm>
          <a:prstGeom prst="roundRect">
            <a:avLst>
              <a:gd name="adj" fmla="val 1495"/>
            </a:avLst>
          </a:prstGeom>
          <a:solidFill>
            <a:srgbClr val="F7F8FC"/>
          </a:solidFill>
          <a:ln w="12700">
            <a:solidFill>
              <a:srgbClr val="E3E6F0"/>
            </a:solidFill>
            <a:prstDash val="solid"/>
          </a:ln>
        </p:spPr>
      </p:sp>
      <p:sp>
        <p:nvSpPr>
          <p:cNvPr id="12" name="Text 10"/>
          <p:cNvSpPr/>
          <p:nvPr/>
        </p:nvSpPr>
        <p:spPr>
          <a:xfrm>
            <a:off x="6263640" y="1572768"/>
            <a:ext cx="5120640" cy="320040"/>
          </a:xfrm>
          <a:prstGeom prst="rect">
            <a:avLst/>
          </a:prstGeom>
          <a:noFill/>
          <a:ln/>
        </p:spPr>
        <p:txBody>
          <a:bodyPr wrap="square" rtlCol="0" anchor="ctr"/>
          <a:lstStyle/>
          <a:p>
            <a:pPr marL="0" indent="0">
              <a:buNone/>
            </a:pPr>
            <a:r>
              <a:rPr lang="en-US" sz="1300" b="1" dirty="0">
                <a:solidFill>
                  <a:srgbClr val="1B1B2F"/>
                </a:solidFill>
                <a:latin typeface="Calibri" pitchFamily="34" charset="0"/>
                <a:ea typeface="Calibri" pitchFamily="34" charset="-122"/>
                <a:cs typeface="Calibri" pitchFamily="34" charset="-120"/>
              </a:rPr>
              <a:t>n·log₂(n) for n = 1 to 100</a:t>
            </a:r>
            <a:endParaRPr lang="en-US" sz="1300" dirty="0"/>
          </a:p>
        </p:txBody>
      </p:sp>
      <p:graphicFrame>
        <p:nvGraphicFramePr>
          <p:cNvPr id="13" name="Chart 0"/>
          <p:cNvGraphicFramePr/>
          <p:nvPr/>
        </p:nvGraphicFramePr>
        <p:xfrm>
          <a:off x="6263640" y="1965960"/>
          <a:ext cx="51206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1"/>
          <p:cNvSpPr/>
          <p:nvPr/>
        </p:nvSpPr>
        <p:spPr>
          <a:xfrm>
            <a:off x="6263640" y="5669280"/>
            <a:ext cx="5120640" cy="502920"/>
          </a:xfrm>
          <a:prstGeom prst="rect">
            <a:avLst/>
          </a:prstGeom>
          <a:noFill/>
          <a:ln/>
        </p:spPr>
        <p:txBody>
          <a:bodyPr wrap="square" rtlCol="0" anchor="ctr"/>
          <a:lstStyle/>
          <a:p>
            <a:pPr marL="0" indent="0">
              <a:buNone/>
            </a:pPr>
            <a:r>
              <a:rPr lang="en-US" sz="1050" i="1" dirty="0">
                <a:solidFill>
                  <a:srgbClr val="5B6178"/>
                </a:solidFill>
                <a:latin typeface="Calibri" pitchFamily="34" charset="0"/>
                <a:ea typeface="Calibri" pitchFamily="34" charset="-122"/>
                <a:cs typeface="Calibri" pitchFamily="34" charset="-120"/>
              </a:rPr>
              <a:t>At n = 1,000,000, n·log₂(n) ≈ 20,000,000 — still comfortably fast for modern hardware.</a:t>
            </a:r>
            <a:endParaRPr lang="en-US" sz="1050" dirty="0"/>
          </a:p>
        </p:txBody>
      </p:sp>
      <p:sp>
        <p:nvSpPr>
          <p:cNvPr id="15" name="Text 12"/>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E8590C"/>
                </a:solidFill>
                <a:latin typeface="Calibri" pitchFamily="34" charset="0"/>
                <a:ea typeface="Calibri" pitchFamily="34" charset="-122"/>
                <a:cs typeface="Calibri" pitchFamily="34" charset="-120"/>
              </a:rPr>
              <a:t>GROWTH FUNCTION 4 OF 5</a:t>
            </a:r>
            <a:endParaRPr lang="en-US" sz="1200" dirty="0"/>
          </a:p>
        </p:txBody>
      </p:sp>
      <p:sp>
        <p:nvSpPr>
          <p:cNvPr id="3" name="Text 1"/>
          <p:cNvSpPr/>
          <p:nvPr/>
        </p:nvSpPr>
        <p:spPr>
          <a:xfrm>
            <a:off x="548640" y="621792"/>
            <a:ext cx="9601200" cy="640080"/>
          </a:xfrm>
          <a:prstGeom prst="rect">
            <a:avLst/>
          </a:prstGeom>
          <a:noFill/>
          <a:ln/>
        </p:spPr>
        <p:txBody>
          <a:bodyPr wrap="square" rtlCol="0" anchor="ctr"/>
          <a:lstStyle/>
          <a:p>
            <a:pPr marL="0" indent="0">
              <a:buNone/>
            </a:pPr>
            <a:r>
              <a:rPr lang="en-US" sz="3000" b="1" dirty="0">
                <a:solidFill>
                  <a:srgbClr val="1B1B2F"/>
                </a:solidFill>
                <a:latin typeface="Cambria" pitchFamily="34" charset="0"/>
                <a:ea typeface="Cambria" pitchFamily="34" charset="-122"/>
                <a:cs typeface="Cambria" pitchFamily="34" charset="-120"/>
              </a:rPr>
              <a:t>O(n²) — Quadratic Growth</a:t>
            </a:r>
            <a:endParaRPr lang="en-US" sz="3000" dirty="0"/>
          </a:p>
        </p:txBody>
      </p:sp>
      <p:sp>
        <p:nvSpPr>
          <p:cNvPr id="4" name="Shape 2"/>
          <p:cNvSpPr/>
          <p:nvPr/>
        </p:nvSpPr>
        <p:spPr>
          <a:xfrm>
            <a:off x="548640" y="1417320"/>
            <a:ext cx="777240" cy="777240"/>
          </a:xfrm>
          <a:prstGeom prst="ellipse">
            <a:avLst/>
          </a:prstGeom>
          <a:solidFill>
            <a:srgbClr val="E8590C"/>
          </a:solidFill>
          <a:ln/>
        </p:spPr>
      </p:sp>
      <p:sp>
        <p:nvSpPr>
          <p:cNvPr id="5" name="Text 3"/>
          <p:cNvSpPr/>
          <p:nvPr/>
        </p:nvSpPr>
        <p:spPr>
          <a:xfrm>
            <a:off x="548640" y="1417320"/>
            <a:ext cx="777240" cy="7772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n²</a:t>
            </a:r>
            <a:endParaRPr lang="en-US" sz="1500" dirty="0"/>
          </a:p>
        </p:txBody>
      </p:sp>
      <p:sp>
        <p:nvSpPr>
          <p:cNvPr id="6" name="Text 4"/>
          <p:cNvSpPr/>
          <p:nvPr/>
        </p:nvSpPr>
        <p:spPr>
          <a:xfrm>
            <a:off x="1508760" y="1417320"/>
            <a:ext cx="4297680" cy="822960"/>
          </a:xfrm>
          <a:prstGeom prst="rect">
            <a:avLst/>
          </a:prstGeom>
          <a:noFill/>
          <a:ln/>
        </p:spPr>
        <p:txBody>
          <a:bodyPr wrap="square" rtlCol="0" anchor="ctr"/>
          <a:lstStyle/>
          <a:p>
            <a:pPr marL="0" indent="0">
              <a:buNone/>
            </a:pPr>
            <a:r>
              <a:rPr lang="en-US" sz="1350" i="1" dirty="0">
                <a:solidFill>
                  <a:srgbClr val="5B6178"/>
                </a:solidFill>
                <a:latin typeface="Calibri" pitchFamily="34" charset="0"/>
                <a:ea typeface="Calibri" pitchFamily="34" charset="-122"/>
                <a:cs typeface="Calibri" pitchFamily="34" charset="-120"/>
              </a:rPr>
              <a:t>f(n) = n²</a:t>
            </a:r>
            <a:endParaRPr lang="en-US" sz="1350" dirty="0"/>
          </a:p>
          <a:p>
            <a:pPr marL="0" indent="0">
              <a:buNone/>
            </a:pPr>
            <a:r>
              <a:rPr lang="en-US" sz="1350" i="1" dirty="0">
                <a:solidFill>
                  <a:srgbClr val="5B6178"/>
                </a:solidFill>
                <a:latin typeface="Calibri" pitchFamily="34" charset="0"/>
                <a:ea typeface="Calibri" pitchFamily="34" charset="-122"/>
                <a:cs typeface="Calibri" pitchFamily="34" charset="-120"/>
              </a:rPr>
              <a:t>Work grows with the square of input size.</a:t>
            </a:r>
            <a:endParaRPr lang="en-US" sz="1350" dirty="0"/>
          </a:p>
        </p:txBody>
      </p:sp>
      <p:sp>
        <p:nvSpPr>
          <p:cNvPr id="7" name="Text 5"/>
          <p:cNvSpPr/>
          <p:nvPr/>
        </p:nvSpPr>
        <p:spPr>
          <a:xfrm>
            <a:off x="548640" y="2331720"/>
            <a:ext cx="5120640" cy="274320"/>
          </a:xfrm>
          <a:prstGeom prst="rect">
            <a:avLst/>
          </a:prstGeom>
          <a:noFill/>
          <a:ln/>
        </p:spPr>
        <p:txBody>
          <a:bodyPr wrap="square" rtlCol="0" anchor="ctr"/>
          <a:lstStyle/>
          <a:p>
            <a:pPr marL="0" indent="0">
              <a:buNone/>
            </a:pPr>
            <a:r>
              <a:rPr lang="en-US" sz="1150" b="1" kern="0" spc="100" dirty="0">
                <a:solidFill>
                  <a:srgbClr val="E8590C"/>
                </a:solidFill>
                <a:latin typeface="Calibri" pitchFamily="34" charset="0"/>
                <a:ea typeface="Calibri" pitchFamily="34" charset="-122"/>
                <a:cs typeface="Calibri" pitchFamily="34" charset="-120"/>
              </a:rPr>
              <a:t>MATHEMATICAL BEHAVIOR</a:t>
            </a:r>
            <a:endParaRPr lang="en-US" sz="1150" dirty="0"/>
          </a:p>
        </p:txBody>
      </p:sp>
      <p:sp>
        <p:nvSpPr>
          <p:cNvPr id="8" name="Text 6"/>
          <p:cNvSpPr/>
          <p:nvPr/>
        </p:nvSpPr>
        <p:spPr>
          <a:xfrm>
            <a:off x="548640" y="2606040"/>
            <a:ext cx="5120640" cy="1600200"/>
          </a:xfrm>
          <a:prstGeom prst="rect">
            <a:avLst/>
          </a:prstGeom>
          <a:noFill/>
          <a:ln/>
        </p:spPr>
        <p:txBody>
          <a:bodyPr wrap="square" rtlCol="0" anchor="ctr"/>
          <a:lstStyle/>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Doubling the input quadruples the work — a steeply rising curve.</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Typically arises from comparing or combining every element with every other element.</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Becomes noticeably slow once n reaches the tens of thousands.</a:t>
            </a:r>
            <a:endParaRPr lang="en-US" sz="1300" dirty="0"/>
          </a:p>
        </p:txBody>
      </p:sp>
      <p:sp>
        <p:nvSpPr>
          <p:cNvPr id="9" name="Text 7"/>
          <p:cNvSpPr/>
          <p:nvPr/>
        </p:nvSpPr>
        <p:spPr>
          <a:xfrm>
            <a:off x="548640" y="4343400"/>
            <a:ext cx="5120640" cy="274320"/>
          </a:xfrm>
          <a:prstGeom prst="rect">
            <a:avLst/>
          </a:prstGeom>
          <a:noFill/>
          <a:ln/>
        </p:spPr>
        <p:txBody>
          <a:bodyPr wrap="square" rtlCol="0" anchor="ctr"/>
          <a:lstStyle/>
          <a:p>
            <a:pPr marL="0" indent="0">
              <a:buNone/>
            </a:pPr>
            <a:r>
              <a:rPr lang="en-US" sz="1150" b="1" kern="0" spc="100" dirty="0">
                <a:solidFill>
                  <a:srgbClr val="E8590C"/>
                </a:solidFill>
                <a:latin typeface="Calibri" pitchFamily="34" charset="0"/>
                <a:ea typeface="Calibri" pitchFamily="34" charset="-122"/>
                <a:cs typeface="Calibri" pitchFamily="34" charset="-120"/>
              </a:rPr>
              <a:t>TYPICAL ALGORITHMS</a:t>
            </a:r>
            <a:endParaRPr lang="en-US" sz="1150" dirty="0"/>
          </a:p>
        </p:txBody>
      </p:sp>
      <p:sp>
        <p:nvSpPr>
          <p:cNvPr id="10" name="Text 8"/>
          <p:cNvSpPr/>
          <p:nvPr/>
        </p:nvSpPr>
        <p:spPr>
          <a:xfrm>
            <a:off x="548640" y="4617720"/>
            <a:ext cx="5120640" cy="1691640"/>
          </a:xfrm>
          <a:prstGeom prst="rect">
            <a:avLst/>
          </a:prstGeom>
          <a:noFill/>
          <a:ln/>
        </p:spPr>
        <p:txBody>
          <a:bodyPr wrap="square" rtlCol="0" anchor="ctr"/>
          <a:lstStyle/>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Bubble sort, insertion sort, selection sort</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Naive pairwise comparison of all elements in a list</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Simple matrix multiplication of two n×n matrices (per output pass)</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Checking all pairs for duplicates without a hash structure</a:t>
            </a:r>
            <a:endParaRPr lang="en-US" sz="1300" dirty="0"/>
          </a:p>
        </p:txBody>
      </p:sp>
      <p:sp>
        <p:nvSpPr>
          <p:cNvPr id="11" name="Shape 9"/>
          <p:cNvSpPr/>
          <p:nvPr/>
        </p:nvSpPr>
        <p:spPr>
          <a:xfrm>
            <a:off x="5989320" y="1417320"/>
            <a:ext cx="5623560" cy="4892040"/>
          </a:xfrm>
          <a:prstGeom prst="roundRect">
            <a:avLst>
              <a:gd name="adj" fmla="val 1495"/>
            </a:avLst>
          </a:prstGeom>
          <a:solidFill>
            <a:srgbClr val="F7F8FC"/>
          </a:solidFill>
          <a:ln w="12700">
            <a:solidFill>
              <a:srgbClr val="E3E6F0"/>
            </a:solidFill>
            <a:prstDash val="solid"/>
          </a:ln>
        </p:spPr>
      </p:sp>
      <p:sp>
        <p:nvSpPr>
          <p:cNvPr id="12" name="Text 10"/>
          <p:cNvSpPr/>
          <p:nvPr/>
        </p:nvSpPr>
        <p:spPr>
          <a:xfrm>
            <a:off x="6263640" y="1572768"/>
            <a:ext cx="5120640" cy="320040"/>
          </a:xfrm>
          <a:prstGeom prst="rect">
            <a:avLst/>
          </a:prstGeom>
          <a:noFill/>
          <a:ln/>
        </p:spPr>
        <p:txBody>
          <a:bodyPr wrap="square" rtlCol="0" anchor="ctr"/>
          <a:lstStyle/>
          <a:p>
            <a:pPr marL="0" indent="0">
              <a:buNone/>
            </a:pPr>
            <a:r>
              <a:rPr lang="en-US" sz="1300" b="1" dirty="0">
                <a:solidFill>
                  <a:srgbClr val="1B1B2F"/>
                </a:solidFill>
                <a:latin typeface="Calibri" pitchFamily="34" charset="0"/>
                <a:ea typeface="Calibri" pitchFamily="34" charset="-122"/>
                <a:cs typeface="Calibri" pitchFamily="34" charset="-120"/>
              </a:rPr>
              <a:t>n² for n = 1 to 100</a:t>
            </a:r>
            <a:endParaRPr lang="en-US" sz="1300" dirty="0"/>
          </a:p>
        </p:txBody>
      </p:sp>
      <p:graphicFrame>
        <p:nvGraphicFramePr>
          <p:cNvPr id="13" name="Chart 0"/>
          <p:cNvGraphicFramePr/>
          <p:nvPr/>
        </p:nvGraphicFramePr>
        <p:xfrm>
          <a:off x="6263640" y="1965960"/>
          <a:ext cx="51206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1"/>
          <p:cNvSpPr/>
          <p:nvPr/>
        </p:nvSpPr>
        <p:spPr>
          <a:xfrm>
            <a:off x="6263640" y="5669280"/>
            <a:ext cx="5120640" cy="502920"/>
          </a:xfrm>
          <a:prstGeom prst="rect">
            <a:avLst/>
          </a:prstGeom>
          <a:noFill/>
          <a:ln/>
        </p:spPr>
        <p:txBody>
          <a:bodyPr wrap="square" rtlCol="0" anchor="ctr"/>
          <a:lstStyle/>
          <a:p>
            <a:pPr marL="0" indent="0">
              <a:buNone/>
            </a:pPr>
            <a:r>
              <a:rPr lang="en-US" sz="1050" i="1" dirty="0">
                <a:solidFill>
                  <a:srgbClr val="5B6178"/>
                </a:solidFill>
                <a:latin typeface="Calibri" pitchFamily="34" charset="0"/>
                <a:ea typeface="Calibri" pitchFamily="34" charset="-122"/>
                <a:cs typeface="Calibri" pitchFamily="34" charset="-120"/>
              </a:rPr>
              <a:t>At n = 1,000,000, n² = 1,000,000,000,000 — one trillion operations, already impractical.</a:t>
            </a:r>
            <a:endParaRPr lang="en-US" sz="1050" dirty="0"/>
          </a:p>
        </p:txBody>
      </p:sp>
      <p:sp>
        <p:nvSpPr>
          <p:cNvPr id="15" name="Text 12"/>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C62828"/>
                </a:solidFill>
                <a:latin typeface="Calibri" pitchFamily="34" charset="0"/>
                <a:ea typeface="Calibri" pitchFamily="34" charset="-122"/>
                <a:cs typeface="Calibri" pitchFamily="34" charset="-120"/>
              </a:rPr>
              <a:t>GROWTH FUNCTION 5 OF 5</a:t>
            </a:r>
            <a:endParaRPr lang="en-US" sz="1200" dirty="0"/>
          </a:p>
        </p:txBody>
      </p:sp>
      <p:sp>
        <p:nvSpPr>
          <p:cNvPr id="3" name="Text 1"/>
          <p:cNvSpPr/>
          <p:nvPr/>
        </p:nvSpPr>
        <p:spPr>
          <a:xfrm>
            <a:off x="548640" y="621792"/>
            <a:ext cx="9601200" cy="640080"/>
          </a:xfrm>
          <a:prstGeom prst="rect">
            <a:avLst/>
          </a:prstGeom>
          <a:noFill/>
          <a:ln/>
        </p:spPr>
        <p:txBody>
          <a:bodyPr wrap="square" rtlCol="0" anchor="ctr"/>
          <a:lstStyle/>
          <a:p>
            <a:pPr marL="0" indent="0">
              <a:buNone/>
            </a:pPr>
            <a:r>
              <a:rPr lang="en-US" sz="3000" b="1" dirty="0">
                <a:solidFill>
                  <a:srgbClr val="1B1B2F"/>
                </a:solidFill>
                <a:latin typeface="Cambria" pitchFamily="34" charset="0"/>
                <a:ea typeface="Cambria" pitchFamily="34" charset="-122"/>
                <a:cs typeface="Cambria" pitchFamily="34" charset="-120"/>
              </a:rPr>
              <a:t>O(2ⁿ) — Exponential Growth</a:t>
            </a:r>
            <a:endParaRPr lang="en-US" sz="3000" dirty="0"/>
          </a:p>
        </p:txBody>
      </p:sp>
      <p:sp>
        <p:nvSpPr>
          <p:cNvPr id="4" name="Shape 2"/>
          <p:cNvSpPr/>
          <p:nvPr/>
        </p:nvSpPr>
        <p:spPr>
          <a:xfrm>
            <a:off x="548640" y="1417320"/>
            <a:ext cx="777240" cy="777240"/>
          </a:xfrm>
          <a:prstGeom prst="ellipse">
            <a:avLst/>
          </a:prstGeom>
          <a:solidFill>
            <a:srgbClr val="C62828"/>
          </a:solidFill>
          <a:ln/>
        </p:spPr>
      </p:sp>
      <p:sp>
        <p:nvSpPr>
          <p:cNvPr id="5" name="Text 3"/>
          <p:cNvSpPr/>
          <p:nvPr/>
        </p:nvSpPr>
        <p:spPr>
          <a:xfrm>
            <a:off x="548640" y="1417320"/>
            <a:ext cx="777240" cy="7772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2ⁿ</a:t>
            </a:r>
            <a:endParaRPr lang="en-US" sz="1500" dirty="0"/>
          </a:p>
        </p:txBody>
      </p:sp>
      <p:sp>
        <p:nvSpPr>
          <p:cNvPr id="6" name="Text 4"/>
          <p:cNvSpPr/>
          <p:nvPr/>
        </p:nvSpPr>
        <p:spPr>
          <a:xfrm>
            <a:off x="1508760" y="1417320"/>
            <a:ext cx="4297680" cy="822960"/>
          </a:xfrm>
          <a:prstGeom prst="rect">
            <a:avLst/>
          </a:prstGeom>
          <a:noFill/>
          <a:ln/>
        </p:spPr>
        <p:txBody>
          <a:bodyPr wrap="square" rtlCol="0" anchor="ctr"/>
          <a:lstStyle/>
          <a:p>
            <a:pPr marL="0" indent="0">
              <a:buNone/>
            </a:pPr>
            <a:r>
              <a:rPr lang="en-US" sz="1350" i="1" dirty="0">
                <a:solidFill>
                  <a:srgbClr val="5B6178"/>
                </a:solidFill>
                <a:latin typeface="Calibri" pitchFamily="34" charset="0"/>
                <a:ea typeface="Calibri" pitchFamily="34" charset="-122"/>
                <a:cs typeface="Calibri" pitchFamily="34" charset="-120"/>
              </a:rPr>
              <a:t>f(n) = 2ⁿ</a:t>
            </a:r>
            <a:endParaRPr lang="en-US" sz="1350" dirty="0"/>
          </a:p>
          <a:p>
            <a:pPr marL="0" indent="0">
              <a:buNone/>
            </a:pPr>
            <a:r>
              <a:rPr lang="en-US" sz="1350" i="1" dirty="0">
                <a:solidFill>
                  <a:srgbClr val="5B6178"/>
                </a:solidFill>
                <a:latin typeface="Calibri" pitchFamily="34" charset="0"/>
                <a:ea typeface="Calibri" pitchFamily="34" charset="-122"/>
                <a:cs typeface="Calibri" pitchFamily="34" charset="-120"/>
              </a:rPr>
              <a:t>Work doubles with every single additional input element.</a:t>
            </a:r>
            <a:endParaRPr lang="en-US" sz="1350" dirty="0"/>
          </a:p>
        </p:txBody>
      </p:sp>
      <p:sp>
        <p:nvSpPr>
          <p:cNvPr id="7" name="Text 5"/>
          <p:cNvSpPr/>
          <p:nvPr/>
        </p:nvSpPr>
        <p:spPr>
          <a:xfrm>
            <a:off x="548640" y="2331720"/>
            <a:ext cx="5120640" cy="274320"/>
          </a:xfrm>
          <a:prstGeom prst="rect">
            <a:avLst/>
          </a:prstGeom>
          <a:noFill/>
          <a:ln/>
        </p:spPr>
        <p:txBody>
          <a:bodyPr wrap="square" rtlCol="0" anchor="ctr"/>
          <a:lstStyle/>
          <a:p>
            <a:pPr marL="0" indent="0">
              <a:buNone/>
            </a:pPr>
            <a:r>
              <a:rPr lang="en-US" sz="1150" b="1" kern="0" spc="100" dirty="0">
                <a:solidFill>
                  <a:srgbClr val="C62828"/>
                </a:solidFill>
                <a:latin typeface="Calibri" pitchFamily="34" charset="0"/>
                <a:ea typeface="Calibri" pitchFamily="34" charset="-122"/>
                <a:cs typeface="Calibri" pitchFamily="34" charset="-120"/>
              </a:rPr>
              <a:t>MATHEMATICAL BEHAVIOR</a:t>
            </a:r>
            <a:endParaRPr lang="en-US" sz="1150" dirty="0"/>
          </a:p>
        </p:txBody>
      </p:sp>
      <p:sp>
        <p:nvSpPr>
          <p:cNvPr id="8" name="Text 6"/>
          <p:cNvSpPr/>
          <p:nvPr/>
        </p:nvSpPr>
        <p:spPr>
          <a:xfrm>
            <a:off x="548640" y="2606040"/>
            <a:ext cx="5120640" cy="1600200"/>
          </a:xfrm>
          <a:prstGeom prst="rect">
            <a:avLst/>
          </a:prstGeom>
          <a:noFill/>
          <a:ln/>
        </p:spPr>
        <p:txBody>
          <a:bodyPr wrap="square" rtlCol="0" anchor="ctr"/>
          <a:lstStyle/>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Each new element multiplies total work by 2 — the curve explodes almost immediately.</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Usually the result of exploring every possible subset or combination of the input.</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Only feasible for very small n; unusable beyond roughly 30–40 elements.</a:t>
            </a:r>
            <a:endParaRPr lang="en-US" sz="1300" dirty="0"/>
          </a:p>
        </p:txBody>
      </p:sp>
      <p:sp>
        <p:nvSpPr>
          <p:cNvPr id="9" name="Text 7"/>
          <p:cNvSpPr/>
          <p:nvPr/>
        </p:nvSpPr>
        <p:spPr>
          <a:xfrm>
            <a:off x="548640" y="4343400"/>
            <a:ext cx="5120640" cy="274320"/>
          </a:xfrm>
          <a:prstGeom prst="rect">
            <a:avLst/>
          </a:prstGeom>
          <a:noFill/>
          <a:ln/>
        </p:spPr>
        <p:txBody>
          <a:bodyPr wrap="square" rtlCol="0" anchor="ctr"/>
          <a:lstStyle/>
          <a:p>
            <a:pPr marL="0" indent="0">
              <a:buNone/>
            </a:pPr>
            <a:r>
              <a:rPr lang="en-US" sz="1150" b="1" kern="0" spc="100" dirty="0">
                <a:solidFill>
                  <a:srgbClr val="C62828"/>
                </a:solidFill>
                <a:latin typeface="Calibri" pitchFamily="34" charset="0"/>
                <a:ea typeface="Calibri" pitchFamily="34" charset="-122"/>
                <a:cs typeface="Calibri" pitchFamily="34" charset="-120"/>
              </a:rPr>
              <a:t>TYPICAL ALGORITHMS</a:t>
            </a:r>
            <a:endParaRPr lang="en-US" sz="1150" dirty="0"/>
          </a:p>
        </p:txBody>
      </p:sp>
      <p:sp>
        <p:nvSpPr>
          <p:cNvPr id="10" name="Text 8"/>
          <p:cNvSpPr/>
          <p:nvPr/>
        </p:nvSpPr>
        <p:spPr>
          <a:xfrm>
            <a:off x="548640" y="4617720"/>
            <a:ext cx="5120640" cy="1691640"/>
          </a:xfrm>
          <a:prstGeom prst="rect">
            <a:avLst/>
          </a:prstGeom>
          <a:noFill/>
          <a:ln/>
        </p:spPr>
        <p:txBody>
          <a:bodyPr wrap="square" rtlCol="0" anchor="ctr"/>
          <a:lstStyle/>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Brute-force solutions to the traveling salesman problem</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Generating the power set of a set</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Naive recursive Fibonacci without memoization</a:t>
            </a:r>
            <a:endParaRPr lang="en-US" sz="1300" dirty="0"/>
          </a:p>
          <a:p>
            <a:pPr marL="342900" indent="-342900">
              <a:lnSpc>
                <a:spcPct val="110000"/>
              </a:lnSpc>
              <a:spcAft>
                <a:spcPts val="800"/>
              </a:spcAft>
              <a:buSzPct val="100000"/>
              <a:buChar char="•"/>
            </a:pPr>
            <a:r>
              <a:rPr lang="en-US" sz="1300" dirty="0">
                <a:solidFill>
                  <a:srgbClr val="1B1B2F"/>
                </a:solidFill>
                <a:latin typeface="Calibri" pitchFamily="34" charset="0"/>
                <a:ea typeface="Calibri" pitchFamily="34" charset="-122"/>
                <a:cs typeface="Calibri" pitchFamily="34" charset="-120"/>
              </a:rPr>
              <a:t>Exhaustive search over all subsets (e.g., some knapsack formulations)</a:t>
            </a:r>
            <a:endParaRPr lang="en-US" sz="1300" dirty="0"/>
          </a:p>
        </p:txBody>
      </p:sp>
      <p:sp>
        <p:nvSpPr>
          <p:cNvPr id="11" name="Shape 9"/>
          <p:cNvSpPr/>
          <p:nvPr/>
        </p:nvSpPr>
        <p:spPr>
          <a:xfrm>
            <a:off x="5989320" y="1417320"/>
            <a:ext cx="5623560" cy="4892040"/>
          </a:xfrm>
          <a:prstGeom prst="roundRect">
            <a:avLst>
              <a:gd name="adj" fmla="val 1495"/>
            </a:avLst>
          </a:prstGeom>
          <a:solidFill>
            <a:srgbClr val="F7F8FC"/>
          </a:solidFill>
          <a:ln w="12700">
            <a:solidFill>
              <a:srgbClr val="E3E6F0"/>
            </a:solidFill>
            <a:prstDash val="solid"/>
          </a:ln>
        </p:spPr>
      </p:sp>
      <p:sp>
        <p:nvSpPr>
          <p:cNvPr id="12" name="Text 10"/>
          <p:cNvSpPr/>
          <p:nvPr/>
        </p:nvSpPr>
        <p:spPr>
          <a:xfrm>
            <a:off x="6263640" y="1572768"/>
            <a:ext cx="5120640" cy="320040"/>
          </a:xfrm>
          <a:prstGeom prst="rect">
            <a:avLst/>
          </a:prstGeom>
          <a:noFill/>
          <a:ln/>
        </p:spPr>
        <p:txBody>
          <a:bodyPr wrap="square" rtlCol="0" anchor="ctr"/>
          <a:lstStyle/>
          <a:p>
            <a:pPr marL="0" indent="0">
              <a:buNone/>
            </a:pPr>
            <a:r>
              <a:rPr lang="en-US" sz="1300" b="1" dirty="0">
                <a:solidFill>
                  <a:srgbClr val="1B1B2F"/>
                </a:solidFill>
                <a:latin typeface="Calibri" pitchFamily="34" charset="0"/>
                <a:ea typeface="Calibri" pitchFamily="34" charset="-122"/>
                <a:cs typeface="Calibri" pitchFamily="34" charset="-120"/>
              </a:rPr>
              <a:t>2ⁿ for n = 1 to 20</a:t>
            </a:r>
            <a:endParaRPr lang="en-US" sz="1300" dirty="0"/>
          </a:p>
        </p:txBody>
      </p:sp>
      <p:graphicFrame>
        <p:nvGraphicFramePr>
          <p:cNvPr id="13" name="Chart 0"/>
          <p:cNvGraphicFramePr/>
          <p:nvPr/>
        </p:nvGraphicFramePr>
        <p:xfrm>
          <a:off x="6263640" y="1965960"/>
          <a:ext cx="51206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1"/>
          <p:cNvSpPr/>
          <p:nvPr/>
        </p:nvSpPr>
        <p:spPr>
          <a:xfrm>
            <a:off x="6263640" y="5669280"/>
            <a:ext cx="5120640" cy="502920"/>
          </a:xfrm>
          <a:prstGeom prst="rect">
            <a:avLst/>
          </a:prstGeom>
          <a:noFill/>
          <a:ln/>
        </p:spPr>
        <p:txBody>
          <a:bodyPr wrap="square" rtlCol="0" anchor="ctr"/>
          <a:lstStyle/>
          <a:p>
            <a:pPr marL="0" indent="0">
              <a:buNone/>
            </a:pPr>
            <a:r>
              <a:rPr lang="en-US" sz="1050" i="1" dirty="0">
                <a:solidFill>
                  <a:srgbClr val="5B6178"/>
                </a:solidFill>
                <a:latin typeface="Calibri" pitchFamily="34" charset="0"/>
                <a:ea typeface="Calibri" pitchFamily="34" charset="-122"/>
                <a:cs typeface="Calibri" pitchFamily="34" charset="-120"/>
              </a:rPr>
              <a:t>At just n = 40, 2ⁿ exceeds one trillion — growth outpaces hardware almost instantly.</a:t>
            </a:r>
            <a:endParaRPr lang="en-US" sz="1050" dirty="0"/>
          </a:p>
        </p:txBody>
      </p:sp>
      <p:sp>
        <p:nvSpPr>
          <p:cNvPr id="15" name="Text 12"/>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SIDE-BY-SIDE ANALYSIS</a:t>
            </a:r>
            <a:endParaRPr lang="en-US" sz="1200" dirty="0"/>
          </a:p>
        </p:txBody>
      </p:sp>
      <p:sp>
        <p:nvSpPr>
          <p:cNvPr id="3" name="Text 1"/>
          <p:cNvSpPr/>
          <p:nvPr/>
        </p:nvSpPr>
        <p:spPr>
          <a:xfrm>
            <a:off x="548640" y="621792"/>
            <a:ext cx="9601200" cy="640080"/>
          </a:xfrm>
          <a:prstGeom prst="rect">
            <a:avLst/>
          </a:prstGeom>
          <a:noFill/>
          <a:ln/>
        </p:spPr>
        <p:txBody>
          <a:bodyPr wrap="square" rtlCol="0" anchor="ctr"/>
          <a:lstStyle/>
          <a:p>
            <a:pPr marL="0" indent="0">
              <a:buNone/>
            </a:pPr>
            <a:r>
              <a:rPr lang="en-US" sz="3000" b="1" dirty="0">
                <a:solidFill>
                  <a:srgbClr val="1B1B2F"/>
                </a:solidFill>
                <a:latin typeface="Cambria" pitchFamily="34" charset="0"/>
                <a:ea typeface="Cambria" pitchFamily="34" charset="-122"/>
                <a:cs typeface="Cambria" pitchFamily="34" charset="-120"/>
              </a:rPr>
              <a:t>How the Five Functions Compare</a:t>
            </a:r>
            <a:endParaRPr lang="en-US" sz="3000" dirty="0"/>
          </a:p>
        </p:txBody>
      </p:sp>
      <p:sp>
        <p:nvSpPr>
          <p:cNvPr id="4" name="Shape 2"/>
          <p:cNvSpPr/>
          <p:nvPr/>
        </p:nvSpPr>
        <p:spPr>
          <a:xfrm>
            <a:off x="548640" y="1371600"/>
            <a:ext cx="6309360" cy="4251960"/>
          </a:xfrm>
          <a:prstGeom prst="roundRect">
            <a:avLst>
              <a:gd name="adj" fmla="val 1720"/>
            </a:avLst>
          </a:prstGeom>
          <a:solidFill>
            <a:srgbClr val="F7F8FC"/>
          </a:solidFill>
          <a:ln w="12700">
            <a:solidFill>
              <a:srgbClr val="E3E6F0"/>
            </a:solidFill>
            <a:prstDash val="solid"/>
          </a:ln>
        </p:spPr>
      </p:sp>
      <p:sp>
        <p:nvSpPr>
          <p:cNvPr id="5" name="Text 3"/>
          <p:cNvSpPr/>
          <p:nvPr/>
        </p:nvSpPr>
        <p:spPr>
          <a:xfrm>
            <a:off x="822960" y="1508760"/>
            <a:ext cx="5760720" cy="274320"/>
          </a:xfrm>
          <a:prstGeom prst="rect">
            <a:avLst/>
          </a:prstGeom>
          <a:noFill/>
          <a:ln/>
        </p:spPr>
        <p:txBody>
          <a:bodyPr wrap="square" rtlCol="0" anchor="ctr"/>
          <a:lstStyle/>
          <a:p>
            <a:pPr marL="0" indent="0">
              <a:buNone/>
            </a:pPr>
            <a:r>
              <a:rPr lang="en-US" sz="1250" b="1" dirty="0">
                <a:solidFill>
                  <a:srgbClr val="1B1B2F"/>
                </a:solidFill>
                <a:latin typeface="Calibri" pitchFamily="34" charset="0"/>
                <a:ea typeface="Calibri" pitchFamily="34" charset="-122"/>
                <a:cs typeface="Calibri" pitchFamily="34" charset="-120"/>
              </a:rPr>
              <a:t>All five functions, n = 1 to 10</a:t>
            </a:r>
            <a:endParaRPr lang="en-US" sz="1250" dirty="0"/>
          </a:p>
        </p:txBody>
      </p:sp>
      <p:graphicFrame>
        <p:nvGraphicFramePr>
          <p:cNvPr id="6" name="Chart 0"/>
          <p:cNvGraphicFramePr/>
          <p:nvPr/>
        </p:nvGraphicFramePr>
        <p:xfrm>
          <a:off x="822960" y="1828800"/>
          <a:ext cx="576072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7086600" y="1508760"/>
            <a:ext cx="4572000" cy="274320"/>
          </a:xfrm>
          <a:prstGeom prst="rect">
            <a:avLst/>
          </a:prstGeom>
          <a:noFill/>
          <a:ln/>
        </p:spPr>
        <p:txBody>
          <a:bodyPr wrap="square" rtlCol="0" anchor="ctr"/>
          <a:lstStyle/>
          <a:p>
            <a:pPr marL="0" indent="0">
              <a:buNone/>
            </a:pPr>
            <a:r>
              <a:rPr lang="en-US" sz="1250" b="1" dirty="0">
                <a:solidFill>
                  <a:srgbClr val="1B1B2F"/>
                </a:solidFill>
                <a:latin typeface="Calibri" pitchFamily="34" charset="0"/>
                <a:ea typeface="Calibri" pitchFamily="34" charset="-122"/>
                <a:cs typeface="Calibri" pitchFamily="34" charset="-120"/>
              </a:rPr>
              <a:t>Operation counts at growing scale</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086600" y="1874520"/>
          <a:ext cx="4572000" cy="2743200"/>
        </p:xfrm>
        <a:graphic>
          <a:graphicData uri="http://schemas.openxmlformats.org/drawingml/2006/table">
            <a:tbl>
              <a:tblPr/>
              <a:tblGrid>
                <a:gridCol w="1143000"/>
                <a:gridCol w="1143000"/>
                <a:gridCol w="1143000"/>
                <a:gridCol w="1143000"/>
              </a:tblGrid>
              <a:tr h="4572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Function</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1E2761"/>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n = 10</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1E2761"/>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n = 100</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1E2761"/>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n = 1,000</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1E2761"/>
                    </a:solidFill>
                  </a:tcPr>
                </a:tc>
              </a:tr>
              <a:tr h="457200">
                <a:tc>
                  <a:txBody>
                    <a:bodyPr/>
                    <a:lstStyle/>
                    <a:p>
                      <a:pPr marL="0" indent="0">
                        <a:buNone/>
                      </a:pPr>
                      <a:r>
                        <a:rPr lang="en-US" sz="1150" b="1" dirty="0">
                          <a:solidFill>
                            <a:srgbClr val="028090"/>
                          </a:solidFill>
                          <a:latin typeface="Calibri" pitchFamily="34" charset="0"/>
                          <a:ea typeface="Calibri" pitchFamily="34" charset="-122"/>
                          <a:cs typeface="Calibri" pitchFamily="34" charset="-120"/>
                        </a:rPr>
                        <a:t>O(log n)</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tcPr>
                </a:tc>
                <a:tc>
                  <a:txBody>
                    <a:bodyPr/>
                    <a:lstStyle/>
                    <a:p>
                      <a:pPr marL="0" indent="0" algn="r">
                        <a:buNone/>
                      </a:pPr>
                      <a:r>
                        <a:rPr lang="en-US" sz="1150" dirty="0">
                          <a:solidFill>
                            <a:srgbClr val="1B1B2F"/>
                          </a:solidFill>
                          <a:latin typeface="Calibri" pitchFamily="34" charset="0"/>
                          <a:ea typeface="Calibri" pitchFamily="34" charset="-122"/>
                          <a:cs typeface="Calibri" pitchFamily="34" charset="-120"/>
                        </a:rPr>
                        <a:t>3.3</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tcPr>
                </a:tc>
                <a:tc>
                  <a:txBody>
                    <a:bodyPr/>
                    <a:lstStyle/>
                    <a:p>
                      <a:pPr marL="0" indent="0" algn="r">
                        <a:buNone/>
                      </a:pPr>
                      <a:r>
                        <a:rPr lang="en-US" sz="1150" dirty="0">
                          <a:solidFill>
                            <a:srgbClr val="1B1B2F"/>
                          </a:solidFill>
                          <a:latin typeface="Calibri" pitchFamily="34" charset="0"/>
                          <a:ea typeface="Calibri" pitchFamily="34" charset="-122"/>
                          <a:cs typeface="Calibri" pitchFamily="34" charset="-120"/>
                        </a:rPr>
                        <a:t>6.6</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tcPr>
                </a:tc>
                <a:tc>
                  <a:txBody>
                    <a:bodyPr/>
                    <a:lstStyle/>
                    <a:p>
                      <a:pPr marL="0" indent="0" algn="r">
                        <a:buNone/>
                      </a:pPr>
                      <a:r>
                        <a:rPr lang="en-US" sz="1150" dirty="0">
                          <a:solidFill>
                            <a:srgbClr val="1B1B2F"/>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tcPr>
                </a:tc>
              </a:tr>
              <a:tr h="457200">
                <a:tc>
                  <a:txBody>
                    <a:bodyPr/>
                    <a:lstStyle/>
                    <a:p>
                      <a:pPr marL="0" indent="0">
                        <a:buNone/>
                      </a:pPr>
                      <a:r>
                        <a:rPr lang="en-US" sz="1150" b="1" dirty="0">
                          <a:solidFill>
                            <a:srgbClr val="00A896"/>
                          </a:solidFill>
                          <a:latin typeface="Calibri" pitchFamily="34" charset="0"/>
                          <a:ea typeface="Calibri" pitchFamily="34" charset="-122"/>
                          <a:cs typeface="Calibri" pitchFamily="34" charset="-120"/>
                        </a:rPr>
                        <a:t>O(n)</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tcPr>
                </a:tc>
                <a:tc>
                  <a:txBody>
                    <a:bodyPr/>
                    <a:lstStyle/>
                    <a:p>
                      <a:pPr marL="0" indent="0" algn="r">
                        <a:buNone/>
                      </a:pPr>
                      <a:r>
                        <a:rPr lang="en-US" sz="1150" dirty="0">
                          <a:solidFill>
                            <a:srgbClr val="1B1B2F"/>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tcPr>
                </a:tc>
                <a:tc>
                  <a:txBody>
                    <a:bodyPr/>
                    <a:lstStyle/>
                    <a:p>
                      <a:pPr marL="0" indent="0" algn="r">
                        <a:buNone/>
                      </a:pPr>
                      <a:r>
                        <a:rPr lang="en-US" sz="1150" dirty="0">
                          <a:solidFill>
                            <a:srgbClr val="1B1B2F"/>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tcPr>
                </a:tc>
                <a:tc>
                  <a:txBody>
                    <a:bodyPr/>
                    <a:lstStyle/>
                    <a:p>
                      <a:pPr marL="0" indent="0" algn="r">
                        <a:buNone/>
                      </a:pPr>
                      <a:r>
                        <a:rPr lang="en-US" sz="1150" dirty="0">
                          <a:solidFill>
                            <a:srgbClr val="1B1B2F"/>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tcPr>
                </a:tc>
              </a:tr>
              <a:tr h="457200">
                <a:tc>
                  <a:txBody>
                    <a:bodyPr/>
                    <a:lstStyle/>
                    <a:p>
                      <a:pPr marL="0" indent="0">
                        <a:buNone/>
                      </a:pPr>
                      <a:r>
                        <a:rPr lang="en-US" sz="1150" b="1" dirty="0">
                          <a:solidFill>
                            <a:srgbClr val="C98A00"/>
                          </a:solidFill>
                          <a:latin typeface="Calibri" pitchFamily="34" charset="0"/>
                          <a:ea typeface="Calibri" pitchFamily="34" charset="-122"/>
                          <a:cs typeface="Calibri" pitchFamily="34" charset="-120"/>
                        </a:rPr>
                        <a:t>O(n log n)</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tcPr>
                </a:tc>
                <a:tc>
                  <a:txBody>
                    <a:bodyPr/>
                    <a:lstStyle/>
                    <a:p>
                      <a:pPr marL="0" indent="0" algn="r">
                        <a:buNone/>
                      </a:pPr>
                      <a:r>
                        <a:rPr lang="en-US" sz="1150" dirty="0">
                          <a:solidFill>
                            <a:srgbClr val="1B1B2F"/>
                          </a:solidFill>
                          <a:latin typeface="Calibri" pitchFamily="34" charset="0"/>
                          <a:ea typeface="Calibri" pitchFamily="34" charset="-122"/>
                          <a:cs typeface="Calibri" pitchFamily="34" charset="-120"/>
                        </a:rPr>
                        <a:t>33</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tcPr>
                </a:tc>
                <a:tc>
                  <a:txBody>
                    <a:bodyPr/>
                    <a:lstStyle/>
                    <a:p>
                      <a:pPr marL="0" indent="0" algn="r">
                        <a:buNone/>
                      </a:pPr>
                      <a:r>
                        <a:rPr lang="en-US" sz="1150" dirty="0">
                          <a:solidFill>
                            <a:srgbClr val="1B1B2F"/>
                          </a:solidFill>
                          <a:latin typeface="Calibri" pitchFamily="34" charset="0"/>
                          <a:ea typeface="Calibri" pitchFamily="34" charset="-122"/>
                          <a:cs typeface="Calibri" pitchFamily="34" charset="-120"/>
                        </a:rPr>
                        <a:t>664</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tcPr>
                </a:tc>
                <a:tc>
                  <a:txBody>
                    <a:bodyPr/>
                    <a:lstStyle/>
                    <a:p>
                      <a:pPr marL="0" indent="0" algn="r">
                        <a:buNone/>
                      </a:pPr>
                      <a:r>
                        <a:rPr lang="en-US" sz="1150" dirty="0">
                          <a:solidFill>
                            <a:srgbClr val="1B1B2F"/>
                          </a:solidFill>
                          <a:latin typeface="Calibri" pitchFamily="34" charset="0"/>
                          <a:ea typeface="Calibri" pitchFamily="34" charset="-122"/>
                          <a:cs typeface="Calibri" pitchFamily="34" charset="-120"/>
                        </a:rPr>
                        <a:t>9,966</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tcPr>
                </a:tc>
              </a:tr>
              <a:tr h="457200">
                <a:tc>
                  <a:txBody>
                    <a:bodyPr/>
                    <a:lstStyle/>
                    <a:p>
                      <a:pPr marL="0" indent="0">
                        <a:buNone/>
                      </a:pPr>
                      <a:r>
                        <a:rPr lang="en-US" sz="1150" b="1" dirty="0">
                          <a:solidFill>
                            <a:srgbClr val="E8590C"/>
                          </a:solidFill>
                          <a:latin typeface="Calibri" pitchFamily="34" charset="0"/>
                          <a:ea typeface="Calibri" pitchFamily="34" charset="-122"/>
                          <a:cs typeface="Calibri" pitchFamily="34" charset="-120"/>
                        </a:rPr>
                        <a:t>O(n²)</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tcPr>
                </a:tc>
                <a:tc>
                  <a:txBody>
                    <a:bodyPr/>
                    <a:lstStyle/>
                    <a:p>
                      <a:pPr marL="0" indent="0" algn="r">
                        <a:buNone/>
                      </a:pPr>
                      <a:r>
                        <a:rPr lang="en-US" sz="1150" dirty="0">
                          <a:solidFill>
                            <a:srgbClr val="1B1B2F"/>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tcPr>
                </a:tc>
                <a:tc>
                  <a:txBody>
                    <a:bodyPr/>
                    <a:lstStyle/>
                    <a:p>
                      <a:pPr marL="0" indent="0" algn="r">
                        <a:buNone/>
                      </a:pPr>
                      <a:r>
                        <a:rPr lang="en-US" sz="1150" dirty="0">
                          <a:solidFill>
                            <a:srgbClr val="1B1B2F"/>
                          </a:solidFill>
                          <a:latin typeface="Calibri" pitchFamily="34" charset="0"/>
                          <a:ea typeface="Calibri" pitchFamily="34" charset="-122"/>
                          <a:cs typeface="Calibri" pitchFamily="34" charset="-120"/>
                        </a:rPr>
                        <a:t>10,000</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tcPr>
                </a:tc>
                <a:tc>
                  <a:txBody>
                    <a:bodyPr/>
                    <a:lstStyle/>
                    <a:p>
                      <a:pPr marL="0" indent="0" algn="r">
                        <a:buNone/>
                      </a:pPr>
                      <a:r>
                        <a:rPr lang="en-US" sz="1150" dirty="0">
                          <a:solidFill>
                            <a:srgbClr val="1B1B2F"/>
                          </a:solidFill>
                          <a:latin typeface="Calibri" pitchFamily="34" charset="0"/>
                          <a:ea typeface="Calibri" pitchFamily="34" charset="-122"/>
                          <a:cs typeface="Calibri" pitchFamily="34" charset="-120"/>
                        </a:rPr>
                        <a:t>1,000,000</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tcPr>
                </a:tc>
              </a:tr>
              <a:tr h="457200">
                <a:tc>
                  <a:txBody>
                    <a:bodyPr/>
                    <a:lstStyle/>
                    <a:p>
                      <a:pPr marL="0" indent="0">
                        <a:buNone/>
                      </a:pPr>
                      <a:r>
                        <a:rPr lang="en-US" sz="1150" b="1" dirty="0">
                          <a:solidFill>
                            <a:srgbClr val="C62828"/>
                          </a:solidFill>
                          <a:latin typeface="Calibri" pitchFamily="34" charset="0"/>
                          <a:ea typeface="Calibri" pitchFamily="34" charset="-122"/>
                          <a:cs typeface="Calibri" pitchFamily="34" charset="-120"/>
                        </a:rPr>
                        <a:t>O(2ⁿ)</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tcPr>
                </a:tc>
                <a:tc>
                  <a:txBody>
                    <a:bodyPr/>
                    <a:lstStyle/>
                    <a:p>
                      <a:pPr marL="0" indent="0" algn="r">
                        <a:buNone/>
                      </a:pPr>
                      <a:r>
                        <a:rPr lang="en-US" sz="1150" dirty="0">
                          <a:solidFill>
                            <a:srgbClr val="1B1B2F"/>
                          </a:solidFill>
                          <a:latin typeface="Calibri" pitchFamily="34" charset="0"/>
                          <a:ea typeface="Calibri" pitchFamily="34" charset="-122"/>
                          <a:cs typeface="Calibri" pitchFamily="34" charset="-120"/>
                        </a:rPr>
                        <a:t>1,024</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tcPr>
                </a:tc>
                <a:tc>
                  <a:txBody>
                    <a:bodyPr/>
                    <a:lstStyle/>
                    <a:p>
                      <a:pPr marL="0" indent="0" algn="r">
                        <a:buNone/>
                      </a:pPr>
                      <a:r>
                        <a:rPr lang="en-US" sz="1150" dirty="0">
                          <a:solidFill>
                            <a:srgbClr val="1B1B2F"/>
                          </a:solidFill>
                          <a:latin typeface="Calibri" pitchFamily="34" charset="0"/>
                          <a:ea typeface="Calibri" pitchFamily="34" charset="-122"/>
                          <a:cs typeface="Calibri" pitchFamily="34" charset="-120"/>
                        </a:rPr>
                        <a:t>≈ 1.27 × 10³⁰</a:t>
                      </a:r>
                      <a:endParaRPr lang="en-US" sz="11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tcPr>
                </a:tc>
                <a:tc>
                  <a:txBody>
                    <a:bodyPr/>
                    <a:lstStyle/>
                    <a:p>
                      <a:pPr marL="0" indent="0" algn="r">
                        <a:buNone/>
                      </a:pPr>
                      <a:r>
                        <a:rPr lang="en-US" sz="1050" i="1" dirty="0">
                          <a:solidFill>
                            <a:srgbClr val="1B1B2F"/>
                          </a:solidFill>
                          <a:latin typeface="Calibri" pitchFamily="34" charset="0"/>
                          <a:ea typeface="Calibri" pitchFamily="34" charset="-122"/>
                          <a:cs typeface="Calibri" pitchFamily="34" charset="-120"/>
                        </a:rPr>
                        <a:t>astronomically large</a:t>
                      </a:r>
                      <a:endParaRPr lang="en-US" sz="1050" dirty="0">
                        <a:latin typeface="Calibri" charset="0"/>
                        <a:ea typeface="Calibri" charset="0"/>
                        <a:cs typeface="Calibri" charset="0"/>
                      </a:endParaRPr>
                    </a:p>
                  </a:txBody>
                  <a:tcPr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tcPr>
                </a:tc>
              </a:tr>
            </a:tbl>
          </a:graphicData>
        </a:graphic>
      </p:graphicFrame>
      <p:sp>
        <p:nvSpPr>
          <p:cNvPr id="9" name="Text 5"/>
          <p:cNvSpPr/>
          <p:nvPr/>
        </p:nvSpPr>
        <p:spPr>
          <a:xfrm>
            <a:off x="7086600" y="4892040"/>
            <a:ext cx="4572000" cy="777240"/>
          </a:xfrm>
          <a:prstGeom prst="rect">
            <a:avLst/>
          </a:prstGeom>
          <a:noFill/>
          <a:ln/>
        </p:spPr>
        <p:txBody>
          <a:bodyPr wrap="square" rtlCol="0" anchor="ctr"/>
          <a:lstStyle/>
          <a:p>
            <a:pPr marL="0" indent="0">
              <a:lnSpc>
                <a:spcPct val="115000"/>
              </a:lnSpc>
              <a:buNone/>
            </a:pPr>
            <a:r>
              <a:rPr lang="en-US" sz="1100" i="1" dirty="0">
                <a:solidFill>
                  <a:srgbClr val="5B6178"/>
                </a:solidFill>
                <a:latin typeface="Calibri" pitchFamily="34" charset="0"/>
                <a:ea typeface="Calibri" pitchFamily="34" charset="-122"/>
                <a:cs typeface="Calibri" pitchFamily="34" charset="-120"/>
              </a:rPr>
              <a:t>As n grows by 100× (from 10 to 1,000), logarithmic and linear costs stay small, quadratic cost grows 10,000×, and exponential cost becomes incomputable.</a:t>
            </a:r>
            <a:endParaRPr lang="en-US" sz="1100" dirty="0"/>
          </a:p>
        </p:txBody>
      </p:sp>
      <p:sp>
        <p:nvSpPr>
          <p:cNvPr id="10" name="Text 6"/>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DISCUSSION</a:t>
            </a:r>
            <a:endParaRPr lang="en-US" sz="1200" dirty="0"/>
          </a:p>
        </p:txBody>
      </p:sp>
      <p:sp>
        <p:nvSpPr>
          <p:cNvPr id="3" name="Text 1"/>
          <p:cNvSpPr/>
          <p:nvPr/>
        </p:nvSpPr>
        <p:spPr>
          <a:xfrm>
            <a:off x="548640" y="621792"/>
            <a:ext cx="9601200" cy="640080"/>
          </a:xfrm>
          <a:prstGeom prst="rect">
            <a:avLst/>
          </a:prstGeom>
          <a:noFill/>
          <a:ln/>
        </p:spPr>
        <p:txBody>
          <a:bodyPr wrap="square" rtlCol="0" anchor="ctr"/>
          <a:lstStyle/>
          <a:p>
            <a:pPr marL="0" indent="0">
              <a:buNone/>
            </a:pPr>
            <a:r>
              <a:rPr lang="en-US" sz="3000" b="1" dirty="0">
                <a:solidFill>
                  <a:srgbClr val="1B1B2F"/>
                </a:solidFill>
                <a:latin typeface="Cambria" pitchFamily="34" charset="0"/>
                <a:ea typeface="Cambria" pitchFamily="34" charset="-122"/>
                <a:cs typeface="Cambria" pitchFamily="34" charset="-120"/>
              </a:rPr>
              <a:t>Which Functions Stay Practical at Scale?</a:t>
            </a:r>
            <a:endParaRPr lang="en-US" sz="3000" dirty="0"/>
          </a:p>
        </p:txBody>
      </p:sp>
      <p:sp>
        <p:nvSpPr>
          <p:cNvPr id="4" name="Shape 2"/>
          <p:cNvSpPr/>
          <p:nvPr/>
        </p:nvSpPr>
        <p:spPr>
          <a:xfrm>
            <a:off x="548640" y="1463040"/>
            <a:ext cx="3611880" cy="4709160"/>
          </a:xfrm>
          <a:prstGeom prst="roundRect">
            <a:avLst>
              <a:gd name="adj" fmla="val 2025"/>
            </a:avLst>
          </a:prstGeom>
          <a:solidFill>
            <a:srgbClr val="EAF6F5"/>
          </a:solidFill>
          <a:ln/>
        </p:spPr>
      </p:sp>
      <p:sp>
        <p:nvSpPr>
          <p:cNvPr id="5" name="Shape 3"/>
          <p:cNvSpPr/>
          <p:nvPr/>
        </p:nvSpPr>
        <p:spPr>
          <a:xfrm>
            <a:off x="822960" y="1737360"/>
            <a:ext cx="457200" cy="457200"/>
          </a:xfrm>
          <a:prstGeom prst="ellipse">
            <a:avLst/>
          </a:prstGeom>
          <a:solidFill>
            <a:srgbClr val="028090"/>
          </a:solidFill>
          <a:ln/>
        </p:spPr>
      </p:sp>
      <p:sp>
        <p:nvSpPr>
          <p:cNvPr id="6" name="Text 4"/>
          <p:cNvSpPr/>
          <p:nvPr/>
        </p:nvSpPr>
        <p:spPr>
          <a:xfrm>
            <a:off x="822960" y="1737360"/>
            <a:ext cx="457200" cy="457200"/>
          </a:xfrm>
          <a:prstGeom prst="rect">
            <a:avLst/>
          </a:prstGeom>
          <a:noFill/>
          <a:ln/>
        </p:spPr>
        <p:txBody>
          <a:bodyPr wrap="square" rtlCol="0" anchor="ctr"/>
          <a:lstStyle/>
          <a:p>
            <a:pPr marL="0" indent="0" algn="ctr">
              <a:buNone/>
            </a:pPr>
            <a:endParaRPr lang="en-US" sz="1200" dirty="0"/>
          </a:p>
        </p:txBody>
      </p:sp>
      <p:sp>
        <p:nvSpPr>
          <p:cNvPr id="7" name="Text 5"/>
          <p:cNvSpPr/>
          <p:nvPr/>
        </p:nvSpPr>
        <p:spPr>
          <a:xfrm>
            <a:off x="822960" y="2331720"/>
            <a:ext cx="3063240" cy="320040"/>
          </a:xfrm>
          <a:prstGeom prst="rect">
            <a:avLst/>
          </a:prstGeom>
          <a:noFill/>
          <a:ln/>
        </p:spPr>
        <p:txBody>
          <a:bodyPr wrap="square" rtlCol="0" anchor="ctr"/>
          <a:lstStyle/>
          <a:p>
            <a:pPr marL="0" indent="0">
              <a:buNone/>
            </a:pPr>
            <a:r>
              <a:rPr lang="en-US" sz="1300" b="1" kern="0" spc="100" dirty="0">
                <a:solidFill>
                  <a:srgbClr val="028090"/>
                </a:solidFill>
                <a:latin typeface="Calibri" pitchFamily="34" charset="0"/>
                <a:ea typeface="Calibri" pitchFamily="34" charset="-122"/>
                <a:cs typeface="Calibri" pitchFamily="34" charset="-120"/>
              </a:rPr>
              <a:t>PRACTICAL</a:t>
            </a:r>
            <a:endParaRPr lang="en-US" sz="1300" dirty="0"/>
          </a:p>
        </p:txBody>
      </p:sp>
      <p:sp>
        <p:nvSpPr>
          <p:cNvPr id="8" name="Text 6"/>
          <p:cNvSpPr/>
          <p:nvPr/>
        </p:nvSpPr>
        <p:spPr>
          <a:xfrm>
            <a:off x="822960" y="2743200"/>
            <a:ext cx="3063240" cy="292608"/>
          </a:xfrm>
          <a:prstGeom prst="rect">
            <a:avLst/>
          </a:prstGeom>
          <a:noFill/>
          <a:ln/>
        </p:spPr>
        <p:txBody>
          <a:bodyPr wrap="square" rtlCol="0" anchor="ctr"/>
          <a:lstStyle/>
          <a:p>
            <a:pPr marL="0" indent="0">
              <a:buNone/>
            </a:pPr>
            <a:r>
              <a:rPr lang="en-US" sz="1600" b="1" dirty="0">
                <a:solidFill>
                  <a:srgbClr val="1B1B2F"/>
                </a:solidFill>
                <a:latin typeface="Cambria" pitchFamily="34" charset="0"/>
                <a:ea typeface="Cambria" pitchFamily="34" charset="-122"/>
                <a:cs typeface="Cambria" pitchFamily="34" charset="-120"/>
              </a:rPr>
              <a:t>O(log n)</a:t>
            </a:r>
            <a:endParaRPr lang="en-US" sz="1600" dirty="0"/>
          </a:p>
        </p:txBody>
      </p:sp>
      <p:sp>
        <p:nvSpPr>
          <p:cNvPr id="9" name="Text 7"/>
          <p:cNvSpPr/>
          <p:nvPr/>
        </p:nvSpPr>
        <p:spPr>
          <a:xfrm>
            <a:off x="822960" y="3090672"/>
            <a:ext cx="3063240" cy="664464"/>
          </a:xfrm>
          <a:prstGeom prst="rect">
            <a:avLst/>
          </a:prstGeom>
          <a:noFill/>
          <a:ln/>
        </p:spPr>
        <p:txBody>
          <a:bodyPr wrap="square" rtlCol="0" anchor="t"/>
          <a:lstStyle/>
          <a:p>
            <a:pPr marL="0" indent="0">
              <a:lnSpc>
                <a:spcPct val="115000"/>
              </a:lnSpc>
              <a:buNone/>
            </a:pPr>
            <a:r>
              <a:rPr lang="en-US" sz="1200" dirty="0">
                <a:solidFill>
                  <a:srgbClr val="5B6178"/>
                </a:solidFill>
                <a:latin typeface="Calibri" pitchFamily="34" charset="0"/>
                <a:ea typeface="Calibri" pitchFamily="34" charset="-122"/>
                <a:cs typeface="Calibri" pitchFamily="34" charset="-120"/>
              </a:rPr>
              <a:t>Scales to virtually any input size; adding data barely increases work.</a:t>
            </a:r>
            <a:endParaRPr lang="en-US" sz="1200" dirty="0"/>
          </a:p>
        </p:txBody>
      </p:sp>
      <p:sp>
        <p:nvSpPr>
          <p:cNvPr id="10" name="Text 8"/>
          <p:cNvSpPr/>
          <p:nvPr/>
        </p:nvSpPr>
        <p:spPr>
          <a:xfrm>
            <a:off x="822960" y="3810000"/>
            <a:ext cx="3063240" cy="292608"/>
          </a:xfrm>
          <a:prstGeom prst="rect">
            <a:avLst/>
          </a:prstGeom>
          <a:noFill/>
          <a:ln/>
        </p:spPr>
        <p:txBody>
          <a:bodyPr wrap="square" rtlCol="0" anchor="ctr"/>
          <a:lstStyle/>
          <a:p>
            <a:pPr marL="0" indent="0">
              <a:buNone/>
            </a:pPr>
            <a:r>
              <a:rPr lang="en-US" sz="1600" b="1" dirty="0">
                <a:solidFill>
                  <a:srgbClr val="1B1B2F"/>
                </a:solidFill>
                <a:latin typeface="Cambria" pitchFamily="34" charset="0"/>
                <a:ea typeface="Cambria" pitchFamily="34" charset="-122"/>
                <a:cs typeface="Cambria" pitchFamily="34" charset="-120"/>
              </a:rPr>
              <a:t>O(n)</a:t>
            </a:r>
            <a:endParaRPr lang="en-US" sz="1600" dirty="0"/>
          </a:p>
        </p:txBody>
      </p:sp>
      <p:sp>
        <p:nvSpPr>
          <p:cNvPr id="11" name="Text 9"/>
          <p:cNvSpPr/>
          <p:nvPr/>
        </p:nvSpPr>
        <p:spPr>
          <a:xfrm>
            <a:off x="822960" y="4157472"/>
            <a:ext cx="3063240" cy="664464"/>
          </a:xfrm>
          <a:prstGeom prst="rect">
            <a:avLst/>
          </a:prstGeom>
          <a:noFill/>
          <a:ln/>
        </p:spPr>
        <p:txBody>
          <a:bodyPr wrap="square" rtlCol="0" anchor="t"/>
          <a:lstStyle/>
          <a:p>
            <a:pPr marL="0" indent="0">
              <a:lnSpc>
                <a:spcPct val="115000"/>
              </a:lnSpc>
              <a:buNone/>
            </a:pPr>
            <a:r>
              <a:rPr lang="en-US" sz="1200" dirty="0">
                <a:solidFill>
                  <a:srgbClr val="5B6178"/>
                </a:solidFill>
                <a:latin typeface="Calibri" pitchFamily="34" charset="0"/>
                <a:ea typeface="Calibri" pitchFamily="34" charset="-122"/>
                <a:cs typeface="Calibri" pitchFamily="34" charset="-120"/>
              </a:rPr>
              <a:t>Scales linearly with data; remains fast even at billions of records.</a:t>
            </a:r>
            <a:endParaRPr lang="en-US" sz="1200" dirty="0"/>
          </a:p>
        </p:txBody>
      </p:sp>
      <p:sp>
        <p:nvSpPr>
          <p:cNvPr id="12" name="Text 10"/>
          <p:cNvSpPr/>
          <p:nvPr/>
        </p:nvSpPr>
        <p:spPr>
          <a:xfrm>
            <a:off x="822960" y="4876800"/>
            <a:ext cx="3063240" cy="292608"/>
          </a:xfrm>
          <a:prstGeom prst="rect">
            <a:avLst/>
          </a:prstGeom>
          <a:noFill/>
          <a:ln/>
        </p:spPr>
        <p:txBody>
          <a:bodyPr wrap="square" rtlCol="0" anchor="ctr"/>
          <a:lstStyle/>
          <a:p>
            <a:pPr marL="0" indent="0">
              <a:buNone/>
            </a:pPr>
            <a:r>
              <a:rPr lang="en-US" sz="1600" b="1" dirty="0">
                <a:solidFill>
                  <a:srgbClr val="1B1B2F"/>
                </a:solidFill>
                <a:latin typeface="Cambria" pitchFamily="34" charset="0"/>
                <a:ea typeface="Cambria" pitchFamily="34" charset="-122"/>
                <a:cs typeface="Cambria" pitchFamily="34" charset="-120"/>
              </a:rPr>
              <a:t>O(n log n)</a:t>
            </a:r>
            <a:endParaRPr lang="en-US" sz="1600" dirty="0"/>
          </a:p>
        </p:txBody>
      </p:sp>
      <p:sp>
        <p:nvSpPr>
          <p:cNvPr id="13" name="Text 11"/>
          <p:cNvSpPr/>
          <p:nvPr/>
        </p:nvSpPr>
        <p:spPr>
          <a:xfrm>
            <a:off x="822960" y="5224272"/>
            <a:ext cx="3063240" cy="664464"/>
          </a:xfrm>
          <a:prstGeom prst="rect">
            <a:avLst/>
          </a:prstGeom>
          <a:noFill/>
          <a:ln/>
        </p:spPr>
        <p:txBody>
          <a:bodyPr wrap="square" rtlCol="0" anchor="t"/>
          <a:lstStyle/>
          <a:p>
            <a:pPr marL="0" indent="0">
              <a:lnSpc>
                <a:spcPct val="115000"/>
              </a:lnSpc>
              <a:buNone/>
            </a:pPr>
            <a:r>
              <a:rPr lang="en-US" sz="1200" dirty="0">
                <a:solidFill>
                  <a:srgbClr val="5B6178"/>
                </a:solidFill>
                <a:latin typeface="Calibri" pitchFamily="34" charset="0"/>
                <a:ea typeface="Calibri" pitchFamily="34" charset="-122"/>
                <a:cs typeface="Calibri" pitchFamily="34" charset="-120"/>
              </a:rPr>
              <a:t>The accepted ceiling for large-scale sorting and searching workloads.</a:t>
            </a:r>
            <a:endParaRPr lang="en-US" sz="1200" dirty="0"/>
          </a:p>
        </p:txBody>
      </p:sp>
      <p:sp>
        <p:nvSpPr>
          <p:cNvPr id="14" name="Shape 12"/>
          <p:cNvSpPr/>
          <p:nvPr/>
        </p:nvSpPr>
        <p:spPr>
          <a:xfrm>
            <a:off x="4416552" y="1463040"/>
            <a:ext cx="3611880" cy="4709160"/>
          </a:xfrm>
          <a:prstGeom prst="roundRect">
            <a:avLst>
              <a:gd name="adj" fmla="val 2025"/>
            </a:avLst>
          </a:prstGeom>
          <a:solidFill>
            <a:srgbClr val="FDF1E7"/>
          </a:solidFill>
          <a:ln/>
        </p:spPr>
      </p:sp>
      <p:sp>
        <p:nvSpPr>
          <p:cNvPr id="15" name="Shape 13"/>
          <p:cNvSpPr/>
          <p:nvPr/>
        </p:nvSpPr>
        <p:spPr>
          <a:xfrm>
            <a:off x="4690872" y="1737360"/>
            <a:ext cx="457200" cy="457200"/>
          </a:xfrm>
          <a:prstGeom prst="ellipse">
            <a:avLst/>
          </a:prstGeom>
          <a:solidFill>
            <a:srgbClr val="E8590C"/>
          </a:solidFill>
          <a:ln/>
        </p:spPr>
      </p:sp>
      <p:sp>
        <p:nvSpPr>
          <p:cNvPr id="16" name="Text 14"/>
          <p:cNvSpPr/>
          <p:nvPr/>
        </p:nvSpPr>
        <p:spPr>
          <a:xfrm>
            <a:off x="4690872" y="1737360"/>
            <a:ext cx="457200" cy="457200"/>
          </a:xfrm>
          <a:prstGeom prst="rect">
            <a:avLst/>
          </a:prstGeom>
          <a:noFill/>
          <a:ln/>
        </p:spPr>
        <p:txBody>
          <a:bodyPr wrap="square" rtlCol="0" anchor="ctr"/>
          <a:lstStyle/>
          <a:p>
            <a:pPr marL="0" indent="0" algn="ctr">
              <a:buNone/>
            </a:pPr>
            <a:endParaRPr lang="en-US" sz="1200" dirty="0"/>
          </a:p>
        </p:txBody>
      </p:sp>
      <p:sp>
        <p:nvSpPr>
          <p:cNvPr id="17" name="Text 15"/>
          <p:cNvSpPr/>
          <p:nvPr/>
        </p:nvSpPr>
        <p:spPr>
          <a:xfrm>
            <a:off x="4690872" y="2331720"/>
            <a:ext cx="3063240" cy="320040"/>
          </a:xfrm>
          <a:prstGeom prst="rect">
            <a:avLst/>
          </a:prstGeom>
          <a:noFill/>
          <a:ln/>
        </p:spPr>
        <p:txBody>
          <a:bodyPr wrap="square" rtlCol="0" anchor="ctr"/>
          <a:lstStyle/>
          <a:p>
            <a:pPr marL="0" indent="0">
              <a:buNone/>
            </a:pPr>
            <a:r>
              <a:rPr lang="en-US" sz="1300" b="1" kern="0" spc="100" dirty="0">
                <a:solidFill>
                  <a:srgbClr val="E8590C"/>
                </a:solidFill>
                <a:latin typeface="Calibri" pitchFamily="34" charset="0"/>
                <a:ea typeface="Calibri" pitchFamily="34" charset="-122"/>
                <a:cs typeface="Calibri" pitchFamily="34" charset="-120"/>
              </a:rPr>
              <a:t>USE WITH CAUTION</a:t>
            </a:r>
            <a:endParaRPr lang="en-US" sz="1300" dirty="0"/>
          </a:p>
        </p:txBody>
      </p:sp>
      <p:sp>
        <p:nvSpPr>
          <p:cNvPr id="18" name="Text 16"/>
          <p:cNvSpPr/>
          <p:nvPr/>
        </p:nvSpPr>
        <p:spPr>
          <a:xfrm>
            <a:off x="4690872" y="2743200"/>
            <a:ext cx="3063240" cy="292608"/>
          </a:xfrm>
          <a:prstGeom prst="rect">
            <a:avLst/>
          </a:prstGeom>
          <a:noFill/>
          <a:ln/>
        </p:spPr>
        <p:txBody>
          <a:bodyPr wrap="square" rtlCol="0" anchor="ctr"/>
          <a:lstStyle/>
          <a:p>
            <a:pPr marL="0" indent="0">
              <a:buNone/>
            </a:pPr>
            <a:r>
              <a:rPr lang="en-US" sz="1600" b="1" dirty="0">
                <a:solidFill>
                  <a:srgbClr val="1B1B2F"/>
                </a:solidFill>
                <a:latin typeface="Cambria" pitchFamily="34" charset="0"/>
                <a:ea typeface="Cambria" pitchFamily="34" charset="-122"/>
                <a:cs typeface="Cambria" pitchFamily="34" charset="-120"/>
              </a:rPr>
              <a:t>O(n²)</a:t>
            </a:r>
            <a:endParaRPr lang="en-US" sz="1600" dirty="0"/>
          </a:p>
        </p:txBody>
      </p:sp>
      <p:sp>
        <p:nvSpPr>
          <p:cNvPr id="19" name="Text 17"/>
          <p:cNvSpPr/>
          <p:nvPr/>
        </p:nvSpPr>
        <p:spPr>
          <a:xfrm>
            <a:off x="4690872" y="3090672"/>
            <a:ext cx="3063240" cy="1197864"/>
          </a:xfrm>
          <a:prstGeom prst="rect">
            <a:avLst/>
          </a:prstGeom>
          <a:noFill/>
          <a:ln/>
        </p:spPr>
        <p:txBody>
          <a:bodyPr wrap="square" rtlCol="0" anchor="t"/>
          <a:lstStyle/>
          <a:p>
            <a:pPr marL="0" indent="0">
              <a:lnSpc>
                <a:spcPct val="115000"/>
              </a:lnSpc>
              <a:buNone/>
            </a:pPr>
            <a:r>
              <a:rPr lang="en-US" sz="1200" dirty="0">
                <a:solidFill>
                  <a:srgbClr val="5B6178"/>
                </a:solidFill>
                <a:latin typeface="Calibri" pitchFamily="34" charset="0"/>
                <a:ea typeface="Calibri" pitchFamily="34" charset="-122"/>
                <a:cs typeface="Calibri" pitchFamily="34" charset="-120"/>
              </a:rPr>
              <a:t>Workable for small-to-moderate n (thousands), but degrades sharply beyond that.</a:t>
            </a:r>
            <a:endParaRPr lang="en-US" sz="1200" dirty="0"/>
          </a:p>
        </p:txBody>
      </p:sp>
      <p:sp>
        <p:nvSpPr>
          <p:cNvPr id="20" name="Text 18"/>
          <p:cNvSpPr/>
          <p:nvPr/>
        </p:nvSpPr>
        <p:spPr>
          <a:xfrm>
            <a:off x="4690872" y="4343400"/>
            <a:ext cx="3063240" cy="292608"/>
          </a:xfrm>
          <a:prstGeom prst="rect">
            <a:avLst/>
          </a:prstGeom>
          <a:noFill/>
          <a:ln/>
        </p:spPr>
        <p:txBody>
          <a:bodyPr wrap="square" rtlCol="0" anchor="ctr"/>
          <a:lstStyle/>
          <a:p>
            <a:pPr marL="0" indent="0">
              <a:buNone/>
            </a:pPr>
            <a:r>
              <a:rPr lang="en-US" sz="1600" b="1" dirty="0">
                <a:solidFill>
                  <a:srgbClr val="1B1B2F"/>
                </a:solidFill>
                <a:latin typeface="Cambria" pitchFamily="34" charset="0"/>
                <a:ea typeface="Cambria" pitchFamily="34" charset="-122"/>
                <a:cs typeface="Cambria" pitchFamily="34" charset="-120"/>
              </a:rPr>
              <a:t>Mitigation</a:t>
            </a:r>
            <a:endParaRPr lang="en-US" sz="1600" dirty="0"/>
          </a:p>
        </p:txBody>
      </p:sp>
      <p:sp>
        <p:nvSpPr>
          <p:cNvPr id="21" name="Text 19"/>
          <p:cNvSpPr/>
          <p:nvPr/>
        </p:nvSpPr>
        <p:spPr>
          <a:xfrm>
            <a:off x="4690872" y="4690872"/>
            <a:ext cx="3063240" cy="1197864"/>
          </a:xfrm>
          <a:prstGeom prst="rect">
            <a:avLst/>
          </a:prstGeom>
          <a:noFill/>
          <a:ln/>
        </p:spPr>
        <p:txBody>
          <a:bodyPr wrap="square" rtlCol="0" anchor="t"/>
          <a:lstStyle/>
          <a:p>
            <a:pPr marL="0" indent="0">
              <a:lnSpc>
                <a:spcPct val="115000"/>
              </a:lnSpc>
              <a:buNone/>
            </a:pPr>
            <a:r>
              <a:rPr lang="en-US" sz="1200" dirty="0">
                <a:solidFill>
                  <a:srgbClr val="5B6178"/>
                </a:solidFill>
                <a:latin typeface="Calibri" pitchFamily="34" charset="0"/>
                <a:ea typeface="Calibri" pitchFamily="34" charset="-122"/>
                <a:cs typeface="Calibri" pitchFamily="34" charset="-120"/>
              </a:rPr>
              <a:t>Re-architect with a better algorithm, add indexing, or cap the input size.</a:t>
            </a:r>
            <a:endParaRPr lang="en-US" sz="1200" dirty="0"/>
          </a:p>
        </p:txBody>
      </p:sp>
      <p:sp>
        <p:nvSpPr>
          <p:cNvPr id="22" name="Shape 20"/>
          <p:cNvSpPr/>
          <p:nvPr/>
        </p:nvSpPr>
        <p:spPr>
          <a:xfrm>
            <a:off x="8284464" y="1463040"/>
            <a:ext cx="3611880" cy="4709160"/>
          </a:xfrm>
          <a:prstGeom prst="roundRect">
            <a:avLst>
              <a:gd name="adj" fmla="val 2025"/>
            </a:avLst>
          </a:prstGeom>
          <a:solidFill>
            <a:srgbClr val="FBEAEA"/>
          </a:solidFill>
          <a:ln/>
        </p:spPr>
      </p:sp>
      <p:sp>
        <p:nvSpPr>
          <p:cNvPr id="23" name="Shape 21"/>
          <p:cNvSpPr/>
          <p:nvPr/>
        </p:nvSpPr>
        <p:spPr>
          <a:xfrm>
            <a:off x="8558784" y="1737360"/>
            <a:ext cx="457200" cy="457200"/>
          </a:xfrm>
          <a:prstGeom prst="ellipse">
            <a:avLst/>
          </a:prstGeom>
          <a:solidFill>
            <a:srgbClr val="C62828"/>
          </a:solidFill>
          <a:ln/>
        </p:spPr>
      </p:sp>
      <p:sp>
        <p:nvSpPr>
          <p:cNvPr id="24" name="Text 22"/>
          <p:cNvSpPr/>
          <p:nvPr/>
        </p:nvSpPr>
        <p:spPr>
          <a:xfrm>
            <a:off x="8558784" y="1737360"/>
            <a:ext cx="457200" cy="457200"/>
          </a:xfrm>
          <a:prstGeom prst="rect">
            <a:avLst/>
          </a:prstGeom>
          <a:noFill/>
          <a:ln/>
        </p:spPr>
        <p:txBody>
          <a:bodyPr wrap="square" rtlCol="0" anchor="ctr"/>
          <a:lstStyle/>
          <a:p>
            <a:pPr marL="0" indent="0" algn="ctr">
              <a:buNone/>
            </a:pPr>
            <a:endParaRPr lang="en-US" sz="1200" dirty="0"/>
          </a:p>
        </p:txBody>
      </p:sp>
      <p:sp>
        <p:nvSpPr>
          <p:cNvPr id="25" name="Text 23"/>
          <p:cNvSpPr/>
          <p:nvPr/>
        </p:nvSpPr>
        <p:spPr>
          <a:xfrm>
            <a:off x="8558784" y="2331720"/>
            <a:ext cx="3063240" cy="320040"/>
          </a:xfrm>
          <a:prstGeom prst="rect">
            <a:avLst/>
          </a:prstGeom>
          <a:noFill/>
          <a:ln/>
        </p:spPr>
        <p:txBody>
          <a:bodyPr wrap="square" rtlCol="0" anchor="ctr"/>
          <a:lstStyle/>
          <a:p>
            <a:pPr marL="0" indent="0">
              <a:buNone/>
            </a:pPr>
            <a:r>
              <a:rPr lang="en-US" sz="1300" b="1" kern="0" spc="100" dirty="0">
                <a:solidFill>
                  <a:srgbClr val="C62828"/>
                </a:solidFill>
                <a:latin typeface="Calibri" pitchFamily="34" charset="0"/>
                <a:ea typeface="Calibri" pitchFamily="34" charset="-122"/>
                <a:cs typeface="Calibri" pitchFamily="34" charset="-120"/>
              </a:rPr>
              <a:t>IMPRACTICAL AT SCALE</a:t>
            </a:r>
            <a:endParaRPr lang="en-US" sz="1300" dirty="0"/>
          </a:p>
        </p:txBody>
      </p:sp>
      <p:sp>
        <p:nvSpPr>
          <p:cNvPr id="26" name="Text 24"/>
          <p:cNvSpPr/>
          <p:nvPr/>
        </p:nvSpPr>
        <p:spPr>
          <a:xfrm>
            <a:off x="8558784" y="2743200"/>
            <a:ext cx="3063240" cy="292608"/>
          </a:xfrm>
          <a:prstGeom prst="rect">
            <a:avLst/>
          </a:prstGeom>
          <a:noFill/>
          <a:ln/>
        </p:spPr>
        <p:txBody>
          <a:bodyPr wrap="square" rtlCol="0" anchor="ctr"/>
          <a:lstStyle/>
          <a:p>
            <a:pPr marL="0" indent="0">
              <a:buNone/>
            </a:pPr>
            <a:r>
              <a:rPr lang="en-US" sz="1600" b="1" dirty="0">
                <a:solidFill>
                  <a:srgbClr val="1B1B2F"/>
                </a:solidFill>
                <a:latin typeface="Cambria" pitchFamily="34" charset="0"/>
                <a:ea typeface="Cambria" pitchFamily="34" charset="-122"/>
                <a:cs typeface="Cambria" pitchFamily="34" charset="-120"/>
              </a:rPr>
              <a:t>O(2ⁿ)</a:t>
            </a:r>
            <a:endParaRPr lang="en-US" sz="1600" dirty="0"/>
          </a:p>
        </p:txBody>
      </p:sp>
      <p:sp>
        <p:nvSpPr>
          <p:cNvPr id="27" name="Text 25"/>
          <p:cNvSpPr/>
          <p:nvPr/>
        </p:nvSpPr>
        <p:spPr>
          <a:xfrm>
            <a:off x="8558784" y="3090672"/>
            <a:ext cx="3063240" cy="1197864"/>
          </a:xfrm>
          <a:prstGeom prst="rect">
            <a:avLst/>
          </a:prstGeom>
          <a:noFill/>
          <a:ln/>
        </p:spPr>
        <p:txBody>
          <a:bodyPr wrap="square" rtlCol="0" anchor="t"/>
          <a:lstStyle/>
          <a:p>
            <a:pPr marL="0" indent="0">
              <a:lnSpc>
                <a:spcPct val="115000"/>
              </a:lnSpc>
              <a:buNone/>
            </a:pPr>
            <a:r>
              <a:rPr lang="en-US" sz="1200" dirty="0">
                <a:solidFill>
                  <a:srgbClr val="5B6178"/>
                </a:solidFill>
                <a:latin typeface="Calibri" pitchFamily="34" charset="0"/>
                <a:ea typeface="Calibri" pitchFamily="34" charset="-122"/>
                <a:cs typeface="Calibri" pitchFamily="34" charset="-120"/>
              </a:rPr>
              <a:t>Only viable for very small n (roughly under 30–40 elements).</a:t>
            </a:r>
            <a:endParaRPr lang="en-US" sz="1200" dirty="0"/>
          </a:p>
        </p:txBody>
      </p:sp>
      <p:sp>
        <p:nvSpPr>
          <p:cNvPr id="28" name="Text 26"/>
          <p:cNvSpPr/>
          <p:nvPr/>
        </p:nvSpPr>
        <p:spPr>
          <a:xfrm>
            <a:off x="8558784" y="4343400"/>
            <a:ext cx="3063240" cy="292608"/>
          </a:xfrm>
          <a:prstGeom prst="rect">
            <a:avLst/>
          </a:prstGeom>
          <a:noFill/>
          <a:ln/>
        </p:spPr>
        <p:txBody>
          <a:bodyPr wrap="square" rtlCol="0" anchor="ctr"/>
          <a:lstStyle/>
          <a:p>
            <a:pPr marL="0" indent="0">
              <a:buNone/>
            </a:pPr>
            <a:r>
              <a:rPr lang="en-US" sz="1600" b="1" dirty="0">
                <a:solidFill>
                  <a:srgbClr val="1B1B2F"/>
                </a:solidFill>
                <a:latin typeface="Cambria" pitchFamily="34" charset="0"/>
                <a:ea typeface="Cambria" pitchFamily="34" charset="-122"/>
                <a:cs typeface="Cambria" pitchFamily="34" charset="-120"/>
              </a:rPr>
              <a:t>Mitigation</a:t>
            </a:r>
            <a:endParaRPr lang="en-US" sz="1600" dirty="0"/>
          </a:p>
        </p:txBody>
      </p:sp>
      <p:sp>
        <p:nvSpPr>
          <p:cNvPr id="29" name="Text 27"/>
          <p:cNvSpPr/>
          <p:nvPr/>
        </p:nvSpPr>
        <p:spPr>
          <a:xfrm>
            <a:off x="8558784" y="4690872"/>
            <a:ext cx="3063240" cy="1197864"/>
          </a:xfrm>
          <a:prstGeom prst="rect">
            <a:avLst/>
          </a:prstGeom>
          <a:noFill/>
          <a:ln/>
        </p:spPr>
        <p:txBody>
          <a:bodyPr wrap="square" rtlCol="0" anchor="t"/>
          <a:lstStyle/>
          <a:p>
            <a:pPr marL="0" indent="0">
              <a:lnSpc>
                <a:spcPct val="115000"/>
              </a:lnSpc>
              <a:buNone/>
            </a:pPr>
            <a:r>
              <a:rPr lang="en-US" sz="1200" dirty="0">
                <a:solidFill>
                  <a:srgbClr val="5B6178"/>
                </a:solidFill>
                <a:latin typeface="Calibri" pitchFamily="34" charset="0"/>
                <a:ea typeface="Calibri" pitchFamily="34" charset="-122"/>
                <a:cs typeface="Calibri" pitchFamily="34" charset="-120"/>
              </a:rPr>
              <a:t>Apply memoization, pruning (branch-and-bound), or heuristics/approximation.</a:t>
            </a:r>
            <a:endParaRPr lang="en-US" sz="1200" dirty="0"/>
          </a:p>
        </p:txBody>
      </p:sp>
      <p:sp>
        <p:nvSpPr>
          <p:cNvPr id="30" name="Text 28"/>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Matching Growth Behavior to Algorithm Choice</a:t>
            </a:r>
            <a:endParaRPr lang="en-US" sz="2800" dirty="0"/>
          </a:p>
        </p:txBody>
      </p:sp>
      <p:sp>
        <p:nvSpPr>
          <p:cNvPr id="4" name="Shape 2"/>
          <p:cNvSpPr/>
          <p:nvPr/>
        </p:nvSpPr>
        <p:spPr>
          <a:xfrm>
            <a:off x="640080" y="1764792"/>
            <a:ext cx="146304" cy="146304"/>
          </a:xfrm>
          <a:prstGeom prst="ellipse">
            <a:avLst/>
          </a:prstGeom>
          <a:solidFill>
            <a:srgbClr val="028090"/>
          </a:solidFill>
          <a:ln/>
        </p:spPr>
      </p:sp>
      <p:sp>
        <p:nvSpPr>
          <p:cNvPr id="5" name="Text 3"/>
          <p:cNvSpPr/>
          <p:nvPr/>
        </p:nvSpPr>
        <p:spPr>
          <a:xfrm>
            <a:off x="960120" y="1691640"/>
            <a:ext cx="6537960" cy="502920"/>
          </a:xfrm>
          <a:prstGeom prst="rect">
            <a:avLst/>
          </a:prstGeom>
          <a:noFill/>
          <a:ln/>
        </p:spPr>
        <p:txBody>
          <a:bodyPr wrap="square" rtlCol="0" anchor="ctr"/>
          <a:lstStyle/>
          <a:p>
            <a:pPr marL="0" indent="0">
              <a:lnSpc>
                <a:spcPct val="105000"/>
              </a:lnSpc>
              <a:buNone/>
            </a:pPr>
            <a:r>
              <a:rPr lang="en-US" sz="1300" dirty="0">
                <a:solidFill>
                  <a:srgbClr val="FFFFFF"/>
                </a:solidFill>
                <a:latin typeface="Calibri" pitchFamily="34" charset="0"/>
                <a:ea typeface="Calibri" pitchFamily="34" charset="-122"/>
                <a:cs typeface="Calibri" pitchFamily="34" charset="-120"/>
              </a:rPr>
              <a:t>Searching a sorted dataset of millions of records</a:t>
            </a:r>
            <a:endParaRPr lang="en-US" sz="1300" dirty="0"/>
          </a:p>
        </p:txBody>
      </p:sp>
      <p:sp>
        <p:nvSpPr>
          <p:cNvPr id="6" name="Text 4"/>
          <p:cNvSpPr/>
          <p:nvPr/>
        </p:nvSpPr>
        <p:spPr>
          <a:xfrm>
            <a:off x="7589520" y="1691640"/>
            <a:ext cx="1417320" cy="502920"/>
          </a:xfrm>
          <a:prstGeom prst="rect">
            <a:avLst/>
          </a:prstGeom>
          <a:noFill/>
          <a:ln/>
        </p:spPr>
        <p:txBody>
          <a:bodyPr wrap="square" rtlCol="0" anchor="ctr"/>
          <a:lstStyle/>
          <a:p>
            <a:pPr marL="0" indent="0">
              <a:buNone/>
            </a:pPr>
            <a:r>
              <a:rPr lang="en-US" sz="1400" b="1" dirty="0">
                <a:solidFill>
                  <a:srgbClr val="028090"/>
                </a:solidFill>
                <a:latin typeface="Calibri" pitchFamily="34" charset="0"/>
                <a:ea typeface="Calibri" pitchFamily="34" charset="-122"/>
                <a:cs typeface="Calibri" pitchFamily="34" charset="-120"/>
              </a:rPr>
              <a:t>O(log n)</a:t>
            </a:r>
            <a:endParaRPr lang="en-US" sz="1400" dirty="0"/>
          </a:p>
        </p:txBody>
      </p:sp>
      <p:sp>
        <p:nvSpPr>
          <p:cNvPr id="7" name="Text 5"/>
          <p:cNvSpPr/>
          <p:nvPr/>
        </p:nvSpPr>
        <p:spPr>
          <a:xfrm>
            <a:off x="9098280" y="1691640"/>
            <a:ext cx="2606040" cy="502920"/>
          </a:xfrm>
          <a:prstGeom prst="rect">
            <a:avLst/>
          </a:prstGeom>
          <a:noFill/>
          <a:ln/>
        </p:spPr>
        <p:txBody>
          <a:bodyPr wrap="square" rtlCol="0" anchor="ctr"/>
          <a:lstStyle/>
          <a:p>
            <a:pPr marL="0" indent="0">
              <a:lnSpc>
                <a:spcPct val="105000"/>
              </a:lnSpc>
              <a:buNone/>
            </a:pPr>
            <a:r>
              <a:rPr lang="en-US" sz="1050" i="1" dirty="0">
                <a:solidFill>
                  <a:srgbClr val="CADCFC"/>
                </a:solidFill>
                <a:latin typeface="Calibri" pitchFamily="34" charset="0"/>
                <a:ea typeface="Calibri" pitchFamily="34" charset="-122"/>
                <a:cs typeface="Calibri" pitchFamily="34" charset="-120"/>
              </a:rPr>
              <a:t>Binary search keeps lookups fast regardless of dataset size.</a:t>
            </a:r>
            <a:endParaRPr lang="en-US" sz="1050" dirty="0"/>
          </a:p>
        </p:txBody>
      </p:sp>
      <p:sp>
        <p:nvSpPr>
          <p:cNvPr id="8" name="Shape 6"/>
          <p:cNvSpPr/>
          <p:nvPr/>
        </p:nvSpPr>
        <p:spPr>
          <a:xfrm>
            <a:off x="640080" y="2514600"/>
            <a:ext cx="146304" cy="146304"/>
          </a:xfrm>
          <a:prstGeom prst="ellipse">
            <a:avLst/>
          </a:prstGeom>
          <a:solidFill>
            <a:srgbClr val="00A896"/>
          </a:solidFill>
          <a:ln/>
        </p:spPr>
      </p:sp>
      <p:sp>
        <p:nvSpPr>
          <p:cNvPr id="9" name="Text 7"/>
          <p:cNvSpPr/>
          <p:nvPr/>
        </p:nvSpPr>
        <p:spPr>
          <a:xfrm>
            <a:off x="960120" y="2441448"/>
            <a:ext cx="6537960" cy="502920"/>
          </a:xfrm>
          <a:prstGeom prst="rect">
            <a:avLst/>
          </a:prstGeom>
          <a:noFill/>
          <a:ln/>
        </p:spPr>
        <p:txBody>
          <a:bodyPr wrap="square" rtlCol="0" anchor="ctr"/>
          <a:lstStyle/>
          <a:p>
            <a:pPr marL="0" indent="0">
              <a:lnSpc>
                <a:spcPct val="105000"/>
              </a:lnSpc>
              <a:buNone/>
            </a:pPr>
            <a:r>
              <a:rPr lang="en-US" sz="1300" dirty="0">
                <a:solidFill>
                  <a:srgbClr val="FFFFFF"/>
                </a:solidFill>
                <a:latin typeface="Calibri" pitchFamily="34" charset="0"/>
                <a:ea typeface="Calibri" pitchFamily="34" charset="-122"/>
                <a:cs typeface="Calibri" pitchFamily="34" charset="-120"/>
              </a:rPr>
              <a:t>Streaming or scanning a data feed once</a:t>
            </a:r>
            <a:endParaRPr lang="en-US" sz="1300" dirty="0"/>
          </a:p>
        </p:txBody>
      </p:sp>
      <p:sp>
        <p:nvSpPr>
          <p:cNvPr id="10" name="Text 8"/>
          <p:cNvSpPr/>
          <p:nvPr/>
        </p:nvSpPr>
        <p:spPr>
          <a:xfrm>
            <a:off x="7589520" y="2441448"/>
            <a:ext cx="1417320" cy="502920"/>
          </a:xfrm>
          <a:prstGeom prst="rect">
            <a:avLst/>
          </a:prstGeom>
          <a:noFill/>
          <a:ln/>
        </p:spPr>
        <p:txBody>
          <a:bodyPr wrap="square" rtlCol="0" anchor="ctr"/>
          <a:lstStyle/>
          <a:p>
            <a:pPr marL="0" indent="0">
              <a:buNone/>
            </a:pPr>
            <a:r>
              <a:rPr lang="en-US" sz="1400" b="1" dirty="0">
                <a:solidFill>
                  <a:srgbClr val="00A896"/>
                </a:solidFill>
                <a:latin typeface="Calibri" pitchFamily="34" charset="0"/>
                <a:ea typeface="Calibri" pitchFamily="34" charset="-122"/>
                <a:cs typeface="Calibri" pitchFamily="34" charset="-120"/>
              </a:rPr>
              <a:t>O(n)</a:t>
            </a:r>
            <a:endParaRPr lang="en-US" sz="1400" dirty="0"/>
          </a:p>
        </p:txBody>
      </p:sp>
      <p:sp>
        <p:nvSpPr>
          <p:cNvPr id="11" name="Text 9"/>
          <p:cNvSpPr/>
          <p:nvPr/>
        </p:nvSpPr>
        <p:spPr>
          <a:xfrm>
            <a:off x="9098280" y="2441448"/>
            <a:ext cx="2606040" cy="502920"/>
          </a:xfrm>
          <a:prstGeom prst="rect">
            <a:avLst/>
          </a:prstGeom>
          <a:noFill/>
          <a:ln/>
        </p:spPr>
        <p:txBody>
          <a:bodyPr wrap="square" rtlCol="0" anchor="ctr"/>
          <a:lstStyle/>
          <a:p>
            <a:pPr marL="0" indent="0">
              <a:lnSpc>
                <a:spcPct val="105000"/>
              </a:lnSpc>
              <a:buNone/>
            </a:pPr>
            <a:r>
              <a:rPr lang="en-US" sz="1050" i="1" dirty="0">
                <a:solidFill>
                  <a:srgbClr val="CADCFC"/>
                </a:solidFill>
                <a:latin typeface="Calibri" pitchFamily="34" charset="0"/>
                <a:ea typeface="Calibri" pitchFamily="34" charset="-122"/>
                <a:cs typeface="Calibri" pitchFamily="34" charset="-120"/>
              </a:rPr>
              <a:t>A single linear pass is the natural, unavoidable minimum.</a:t>
            </a:r>
            <a:endParaRPr lang="en-US" sz="1050" dirty="0"/>
          </a:p>
        </p:txBody>
      </p:sp>
      <p:sp>
        <p:nvSpPr>
          <p:cNvPr id="12" name="Shape 10"/>
          <p:cNvSpPr/>
          <p:nvPr/>
        </p:nvSpPr>
        <p:spPr>
          <a:xfrm>
            <a:off x="640080" y="3264408"/>
            <a:ext cx="146304" cy="146304"/>
          </a:xfrm>
          <a:prstGeom prst="ellipse">
            <a:avLst/>
          </a:prstGeom>
          <a:solidFill>
            <a:srgbClr val="F9A825"/>
          </a:solidFill>
          <a:ln/>
        </p:spPr>
      </p:sp>
      <p:sp>
        <p:nvSpPr>
          <p:cNvPr id="13" name="Text 11"/>
          <p:cNvSpPr/>
          <p:nvPr/>
        </p:nvSpPr>
        <p:spPr>
          <a:xfrm>
            <a:off x="960120" y="3191256"/>
            <a:ext cx="6537960" cy="502920"/>
          </a:xfrm>
          <a:prstGeom prst="rect">
            <a:avLst/>
          </a:prstGeom>
          <a:noFill/>
          <a:ln/>
        </p:spPr>
        <p:txBody>
          <a:bodyPr wrap="square" rtlCol="0" anchor="ctr"/>
          <a:lstStyle/>
          <a:p>
            <a:pPr marL="0" indent="0">
              <a:lnSpc>
                <a:spcPct val="105000"/>
              </a:lnSpc>
              <a:buNone/>
            </a:pPr>
            <a:r>
              <a:rPr lang="en-US" sz="1300" dirty="0">
                <a:solidFill>
                  <a:srgbClr val="FFFFFF"/>
                </a:solidFill>
                <a:latin typeface="Calibri" pitchFamily="34" charset="0"/>
                <a:ea typeface="Calibri" pitchFamily="34" charset="-122"/>
                <a:cs typeface="Calibri" pitchFamily="34" charset="-120"/>
              </a:rPr>
              <a:t>Sorting or ranking large production datasets</a:t>
            </a:r>
            <a:endParaRPr lang="en-US" sz="1300" dirty="0"/>
          </a:p>
        </p:txBody>
      </p:sp>
      <p:sp>
        <p:nvSpPr>
          <p:cNvPr id="14" name="Text 12"/>
          <p:cNvSpPr/>
          <p:nvPr/>
        </p:nvSpPr>
        <p:spPr>
          <a:xfrm>
            <a:off x="7589520" y="3191256"/>
            <a:ext cx="1417320" cy="502920"/>
          </a:xfrm>
          <a:prstGeom prst="rect">
            <a:avLst/>
          </a:prstGeom>
          <a:noFill/>
          <a:ln/>
        </p:spPr>
        <p:txBody>
          <a:bodyPr wrap="square" rtlCol="0" anchor="ctr"/>
          <a:lstStyle/>
          <a:p>
            <a:pPr marL="0" indent="0">
              <a:buNone/>
            </a:pPr>
            <a:r>
              <a:rPr lang="en-US" sz="1400" b="1" dirty="0">
                <a:solidFill>
                  <a:srgbClr val="F9A825"/>
                </a:solidFill>
                <a:latin typeface="Calibri" pitchFamily="34" charset="0"/>
                <a:ea typeface="Calibri" pitchFamily="34" charset="-122"/>
                <a:cs typeface="Calibri" pitchFamily="34" charset="-120"/>
              </a:rPr>
              <a:t>O(n log n)</a:t>
            </a:r>
            <a:endParaRPr lang="en-US" sz="1400" dirty="0"/>
          </a:p>
        </p:txBody>
      </p:sp>
      <p:sp>
        <p:nvSpPr>
          <p:cNvPr id="15" name="Text 13"/>
          <p:cNvSpPr/>
          <p:nvPr/>
        </p:nvSpPr>
        <p:spPr>
          <a:xfrm>
            <a:off x="9098280" y="3191256"/>
            <a:ext cx="2606040" cy="502920"/>
          </a:xfrm>
          <a:prstGeom prst="rect">
            <a:avLst/>
          </a:prstGeom>
          <a:noFill/>
          <a:ln/>
        </p:spPr>
        <p:txBody>
          <a:bodyPr wrap="square" rtlCol="0" anchor="ctr"/>
          <a:lstStyle/>
          <a:p>
            <a:pPr marL="0" indent="0">
              <a:lnSpc>
                <a:spcPct val="105000"/>
              </a:lnSpc>
              <a:buNone/>
            </a:pPr>
            <a:r>
              <a:rPr lang="en-US" sz="1050" i="1" dirty="0">
                <a:solidFill>
                  <a:srgbClr val="CADCFC"/>
                </a:solidFill>
                <a:latin typeface="Calibri" pitchFamily="34" charset="0"/>
                <a:ea typeface="Calibri" pitchFamily="34" charset="-122"/>
                <a:cs typeface="Calibri" pitchFamily="34" charset="-120"/>
              </a:rPr>
              <a:t>Merge sort / quicksort variants balance speed and reliability at scale.</a:t>
            </a:r>
            <a:endParaRPr lang="en-US" sz="1050" dirty="0"/>
          </a:p>
        </p:txBody>
      </p:sp>
      <p:sp>
        <p:nvSpPr>
          <p:cNvPr id="16" name="Shape 14"/>
          <p:cNvSpPr/>
          <p:nvPr/>
        </p:nvSpPr>
        <p:spPr>
          <a:xfrm>
            <a:off x="640080" y="4014216"/>
            <a:ext cx="146304" cy="146304"/>
          </a:xfrm>
          <a:prstGeom prst="ellipse">
            <a:avLst/>
          </a:prstGeom>
          <a:solidFill>
            <a:srgbClr val="E8590C"/>
          </a:solidFill>
          <a:ln/>
        </p:spPr>
      </p:sp>
      <p:sp>
        <p:nvSpPr>
          <p:cNvPr id="17" name="Text 15"/>
          <p:cNvSpPr/>
          <p:nvPr/>
        </p:nvSpPr>
        <p:spPr>
          <a:xfrm>
            <a:off x="960120" y="3941064"/>
            <a:ext cx="6537960" cy="502920"/>
          </a:xfrm>
          <a:prstGeom prst="rect">
            <a:avLst/>
          </a:prstGeom>
          <a:noFill/>
          <a:ln/>
        </p:spPr>
        <p:txBody>
          <a:bodyPr wrap="square" rtlCol="0" anchor="ctr"/>
          <a:lstStyle/>
          <a:p>
            <a:pPr marL="0" indent="0">
              <a:lnSpc>
                <a:spcPct val="105000"/>
              </a:lnSpc>
              <a:buNone/>
            </a:pPr>
            <a:r>
              <a:rPr lang="en-US" sz="1300" dirty="0">
                <a:solidFill>
                  <a:srgbClr val="FFFFFF"/>
                </a:solidFill>
                <a:latin typeface="Calibri" pitchFamily="34" charset="0"/>
                <a:ea typeface="Calibri" pitchFamily="34" charset="-122"/>
                <a:cs typeface="Calibri" pitchFamily="34" charset="-120"/>
              </a:rPr>
              <a:t>Comparing all pairs in a small dataset (e.g., a few thousand items)</a:t>
            </a:r>
            <a:endParaRPr lang="en-US" sz="1300" dirty="0"/>
          </a:p>
        </p:txBody>
      </p:sp>
      <p:sp>
        <p:nvSpPr>
          <p:cNvPr id="18" name="Text 16"/>
          <p:cNvSpPr/>
          <p:nvPr/>
        </p:nvSpPr>
        <p:spPr>
          <a:xfrm>
            <a:off x="7589520" y="3941064"/>
            <a:ext cx="1417320" cy="502920"/>
          </a:xfrm>
          <a:prstGeom prst="rect">
            <a:avLst/>
          </a:prstGeom>
          <a:noFill/>
          <a:ln/>
        </p:spPr>
        <p:txBody>
          <a:bodyPr wrap="square" rtlCol="0" anchor="ctr"/>
          <a:lstStyle/>
          <a:p>
            <a:pPr marL="0" indent="0">
              <a:buNone/>
            </a:pPr>
            <a:r>
              <a:rPr lang="en-US" sz="1400" b="1" dirty="0">
                <a:solidFill>
                  <a:srgbClr val="E8590C"/>
                </a:solidFill>
                <a:latin typeface="Calibri" pitchFamily="34" charset="0"/>
                <a:ea typeface="Calibri" pitchFamily="34" charset="-122"/>
                <a:cs typeface="Calibri" pitchFamily="34" charset="-120"/>
              </a:rPr>
              <a:t>O(n²)</a:t>
            </a:r>
            <a:endParaRPr lang="en-US" sz="1400" dirty="0"/>
          </a:p>
        </p:txBody>
      </p:sp>
      <p:sp>
        <p:nvSpPr>
          <p:cNvPr id="19" name="Text 17"/>
          <p:cNvSpPr/>
          <p:nvPr/>
        </p:nvSpPr>
        <p:spPr>
          <a:xfrm>
            <a:off x="9098280" y="3941064"/>
            <a:ext cx="2606040" cy="502920"/>
          </a:xfrm>
          <a:prstGeom prst="rect">
            <a:avLst/>
          </a:prstGeom>
          <a:noFill/>
          <a:ln/>
        </p:spPr>
        <p:txBody>
          <a:bodyPr wrap="square" rtlCol="0" anchor="ctr"/>
          <a:lstStyle/>
          <a:p>
            <a:pPr marL="0" indent="0">
              <a:lnSpc>
                <a:spcPct val="105000"/>
              </a:lnSpc>
              <a:buNone/>
            </a:pPr>
            <a:r>
              <a:rPr lang="en-US" sz="1050" i="1" dirty="0">
                <a:solidFill>
                  <a:srgbClr val="CADCFC"/>
                </a:solidFill>
                <a:latin typeface="Calibri" pitchFamily="34" charset="0"/>
                <a:ea typeface="Calibri" pitchFamily="34" charset="-122"/>
                <a:cs typeface="Calibri" pitchFamily="34" charset="-120"/>
              </a:rPr>
              <a:t>Acceptable only when n stays small; otherwise re-architect the approach.</a:t>
            </a:r>
            <a:endParaRPr lang="en-US" sz="1050" dirty="0"/>
          </a:p>
        </p:txBody>
      </p:sp>
      <p:sp>
        <p:nvSpPr>
          <p:cNvPr id="20" name="Shape 18"/>
          <p:cNvSpPr/>
          <p:nvPr/>
        </p:nvSpPr>
        <p:spPr>
          <a:xfrm>
            <a:off x="640080" y="4764024"/>
            <a:ext cx="146304" cy="146304"/>
          </a:xfrm>
          <a:prstGeom prst="ellipse">
            <a:avLst/>
          </a:prstGeom>
          <a:solidFill>
            <a:srgbClr val="C62828"/>
          </a:solidFill>
          <a:ln/>
        </p:spPr>
      </p:sp>
      <p:sp>
        <p:nvSpPr>
          <p:cNvPr id="21" name="Text 19"/>
          <p:cNvSpPr/>
          <p:nvPr/>
        </p:nvSpPr>
        <p:spPr>
          <a:xfrm>
            <a:off x="960120" y="4690872"/>
            <a:ext cx="6537960" cy="502920"/>
          </a:xfrm>
          <a:prstGeom prst="rect">
            <a:avLst/>
          </a:prstGeom>
          <a:noFill/>
          <a:ln/>
        </p:spPr>
        <p:txBody>
          <a:bodyPr wrap="square" rtlCol="0" anchor="ctr"/>
          <a:lstStyle/>
          <a:p>
            <a:pPr marL="0" indent="0">
              <a:lnSpc>
                <a:spcPct val="105000"/>
              </a:lnSpc>
              <a:buNone/>
            </a:pPr>
            <a:r>
              <a:rPr lang="en-US" sz="1300" dirty="0">
                <a:solidFill>
                  <a:srgbClr val="FFFFFF"/>
                </a:solidFill>
                <a:latin typeface="Calibri" pitchFamily="34" charset="0"/>
                <a:ea typeface="Calibri" pitchFamily="34" charset="-122"/>
                <a:cs typeface="Calibri" pitchFamily="34" charset="-120"/>
              </a:rPr>
              <a:t>Exhaustive combinatorial search (routing, scheduling, subsets)</a:t>
            </a:r>
            <a:endParaRPr lang="en-US" sz="1300" dirty="0"/>
          </a:p>
        </p:txBody>
      </p:sp>
      <p:sp>
        <p:nvSpPr>
          <p:cNvPr id="22" name="Text 20"/>
          <p:cNvSpPr/>
          <p:nvPr/>
        </p:nvSpPr>
        <p:spPr>
          <a:xfrm>
            <a:off x="7589520" y="4690872"/>
            <a:ext cx="1417320" cy="502920"/>
          </a:xfrm>
          <a:prstGeom prst="rect">
            <a:avLst/>
          </a:prstGeom>
          <a:noFill/>
          <a:ln/>
        </p:spPr>
        <p:txBody>
          <a:bodyPr wrap="square" rtlCol="0" anchor="ctr"/>
          <a:lstStyle/>
          <a:p>
            <a:pPr marL="0" indent="0">
              <a:buNone/>
            </a:pPr>
            <a:r>
              <a:rPr lang="en-US" sz="1400" b="1" dirty="0">
                <a:solidFill>
                  <a:srgbClr val="C62828"/>
                </a:solidFill>
                <a:latin typeface="Calibri" pitchFamily="34" charset="0"/>
                <a:ea typeface="Calibri" pitchFamily="34" charset="-122"/>
                <a:cs typeface="Calibri" pitchFamily="34" charset="-120"/>
              </a:rPr>
              <a:t>O(2ⁿ)</a:t>
            </a:r>
            <a:endParaRPr lang="en-US" sz="1400" dirty="0"/>
          </a:p>
        </p:txBody>
      </p:sp>
      <p:sp>
        <p:nvSpPr>
          <p:cNvPr id="23" name="Text 21"/>
          <p:cNvSpPr/>
          <p:nvPr/>
        </p:nvSpPr>
        <p:spPr>
          <a:xfrm>
            <a:off x="9098280" y="4690872"/>
            <a:ext cx="2606040" cy="502920"/>
          </a:xfrm>
          <a:prstGeom prst="rect">
            <a:avLst/>
          </a:prstGeom>
          <a:noFill/>
          <a:ln/>
        </p:spPr>
        <p:txBody>
          <a:bodyPr wrap="square" rtlCol="0" anchor="ctr"/>
          <a:lstStyle/>
          <a:p>
            <a:pPr marL="0" indent="0">
              <a:lnSpc>
                <a:spcPct val="105000"/>
              </a:lnSpc>
              <a:buNone/>
            </a:pPr>
            <a:r>
              <a:rPr lang="en-US" sz="1050" i="1" dirty="0">
                <a:solidFill>
                  <a:srgbClr val="CADCFC"/>
                </a:solidFill>
                <a:latin typeface="Calibri" pitchFamily="34" charset="0"/>
                <a:ea typeface="Calibri" pitchFamily="34" charset="-122"/>
                <a:cs typeface="Calibri" pitchFamily="34" charset="-120"/>
              </a:rPr>
              <a:t>Reserve for tiny n, or replace with heuristics/approximation at scale.</a:t>
            </a:r>
            <a:endParaRPr lang="en-US" sz="1050" dirty="0"/>
          </a:p>
        </p:txBody>
      </p:sp>
      <p:sp>
        <p:nvSpPr>
          <p:cNvPr id="24" name="Shape 22"/>
          <p:cNvSpPr/>
          <p:nvPr/>
        </p:nvSpPr>
        <p:spPr>
          <a:xfrm>
            <a:off x="548640" y="5486400"/>
            <a:ext cx="11064240" cy="0"/>
          </a:xfrm>
          <a:prstGeom prst="line">
            <a:avLst/>
          </a:prstGeom>
          <a:noFill/>
          <a:ln w="12700">
            <a:solidFill>
              <a:srgbClr val="3A4590"/>
            </a:solidFill>
            <a:prstDash val="solid"/>
          </a:ln>
        </p:spPr>
      </p:sp>
      <p:sp>
        <p:nvSpPr>
          <p:cNvPr id="25" name="Text 23"/>
          <p:cNvSpPr/>
          <p:nvPr/>
        </p:nvSpPr>
        <p:spPr>
          <a:xfrm>
            <a:off x="548640" y="5669280"/>
            <a:ext cx="11064240" cy="777240"/>
          </a:xfrm>
          <a:prstGeom prst="rect">
            <a:avLst/>
          </a:prstGeom>
          <a:noFill/>
          <a:ln/>
        </p:spPr>
        <p:txBody>
          <a:bodyPr wrap="square" rtlCol="0" anchor="ctr"/>
          <a:lstStyle/>
          <a:p>
            <a:pPr marL="0" indent="0">
              <a:lnSpc>
                <a:spcPct val="120000"/>
              </a:lnSpc>
              <a:buNone/>
            </a:pPr>
            <a:r>
              <a:rPr lang="en-US" sz="1350" i="1" dirty="0">
                <a:solidFill>
                  <a:srgbClr val="FFFFFF"/>
                </a:solidFill>
                <a:latin typeface="Calibri" pitchFamily="34" charset="0"/>
                <a:ea typeface="Calibri" pitchFamily="34" charset="-122"/>
                <a:cs typeface="Calibri" pitchFamily="34" charset="-120"/>
              </a:rPr>
              <a:t>Choosing an algorithm is choosing a growth rate. The right choice depends on expected input size, available hardware, and how the system must behave as data scales — not just correctness today, but performance tomorrow.</a:t>
            </a:r>
            <a:endParaRPr lang="en-US" sz="1350" dirty="0"/>
          </a:p>
        </p:txBody>
      </p:sp>
      <p:sp>
        <p:nvSpPr>
          <p:cNvPr id="26" name="Text 24"/>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1478</Words>
  <Application>Microsoft Office PowerPoint</Application>
  <PresentationFormat>Custom</PresentationFormat>
  <Paragraphs>191</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Abhinav Kodipaka</cp:lastModifiedBy>
  <cp:revision>1</cp:revision>
  <dcterms:created xsi:type="dcterms:W3CDTF">2026-07-19T17:42:51Z</dcterms:created>
  <dcterms:modified xsi:type="dcterms:W3CDTF">2026-07-19T17:50:49Z</dcterms:modified>
</cp:coreProperties>
</file>